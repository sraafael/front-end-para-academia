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9d4a530a4c4ab2" /><Relationship Type="http://schemas.openxmlformats.org/officeDocument/2006/relationships/extended-properties" Target="/docProps/app.xml" Id="R713f12533ac54e17" /><Relationship Type="http://schemas.openxmlformats.org/officeDocument/2006/relationships/officeDocument" Target="/ppt/presentation.xml" Id="R88a20244327540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ef9f2035994da1"/>
  </p:sldMasterIdLst>
  <p:notesMasterIdLst>
    <p:notesMasterId xmlns:r="http://schemas.openxmlformats.org/officeDocument/2006/relationships" r:id="R3b0fef0d705d4d3c"/>
  </p:notesMasterIdLst>
  <p:sldIdLst>
    <p:sldId xmlns:r="http://schemas.openxmlformats.org/officeDocument/2006/relationships" id="256" r:id="Ra7e27f7b424149b9"/>
    <p:sldId xmlns:r="http://schemas.openxmlformats.org/officeDocument/2006/relationships" id="257" r:id="R99a6494b20b54d04"/>
    <p:sldId xmlns:r="http://schemas.openxmlformats.org/officeDocument/2006/relationships" id="258" r:id="R749520d713a040e5"/>
    <p:sldId xmlns:r="http://schemas.openxmlformats.org/officeDocument/2006/relationships" id="259" r:id="R96c7e545d9c4438a"/>
    <p:sldId xmlns:r="http://schemas.openxmlformats.org/officeDocument/2006/relationships" id="260" r:id="Re2dca30d18404cfd"/>
    <p:sldId xmlns:r="http://schemas.openxmlformats.org/officeDocument/2006/relationships" id="261" r:id="R4a72ced510504aaa"/>
    <p:sldId xmlns:r="http://schemas.openxmlformats.org/officeDocument/2006/relationships" id="262" r:id="R6ea9b8c459804333"/>
    <p:sldId xmlns:r="http://schemas.openxmlformats.org/officeDocument/2006/relationships" id="263" r:id="R69f938e9281a419f"/>
    <p:sldId xmlns:r="http://schemas.openxmlformats.org/officeDocument/2006/relationships" id="264" r:id="Rc8fd90e3cccb430f"/>
    <p:sldId xmlns:r="http://schemas.openxmlformats.org/officeDocument/2006/relationships" id="265" r:id="R95760b9c9e2b4dbf"/>
    <p:sldId xmlns:r="http://schemas.openxmlformats.org/officeDocument/2006/relationships" id="266" r:id="R3bfda2e0508b48a7"/>
    <p:sldId xmlns:r="http://schemas.openxmlformats.org/officeDocument/2006/relationships" id="267" r:id="Re97e7a86a12b4c0b"/>
    <p:sldId xmlns:r="http://schemas.openxmlformats.org/officeDocument/2006/relationships" id="268" r:id="R84eb5efc272a4e76"/>
    <p:sldId xmlns:r="http://schemas.openxmlformats.org/officeDocument/2006/relationships" id="269" r:id="R6b0dd143054847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37d868d1384bae" /><Relationship Type="http://schemas.openxmlformats.org/officeDocument/2006/relationships/slideMaster" Target="/ppt/slideMasters/slideMaster1.xml" Id="Ra5ef9f2035994da1" /><Relationship Type="http://schemas.openxmlformats.org/officeDocument/2006/relationships/notesMaster" Target="/ppt/notesMasters/notesMaster1.xml" Id="R3b0fef0d705d4d3c" /><Relationship Type="http://schemas.openxmlformats.org/officeDocument/2006/relationships/presProps" Target="/ppt/presProps.xml" Id="R923cdc1e195b44e7" /><Relationship Type="http://schemas.openxmlformats.org/officeDocument/2006/relationships/viewProps" Target="/ppt/viewProps.xml" Id="R4651af34507944ba" /><Relationship Type="http://schemas.openxmlformats.org/officeDocument/2006/relationships/tableStyles" Target="/ppt/tableStyles.xml" Id="R40b7d14c8b764a01" /><Relationship Type="http://schemas.openxmlformats.org/officeDocument/2006/relationships/slide" Target="/ppt/slides/slide1.xml" Id="Ra7e27f7b424149b9" /><Relationship Type="http://schemas.openxmlformats.org/officeDocument/2006/relationships/slide" Target="/ppt/slides/slide2.xml" Id="R99a6494b20b54d04" /><Relationship Type="http://schemas.openxmlformats.org/officeDocument/2006/relationships/slide" Target="/ppt/slides/slide3.xml" Id="R749520d713a040e5" /><Relationship Type="http://schemas.openxmlformats.org/officeDocument/2006/relationships/slide" Target="/ppt/slides/slide4.xml" Id="R96c7e545d9c4438a" /><Relationship Type="http://schemas.openxmlformats.org/officeDocument/2006/relationships/slide" Target="/ppt/slides/slide5.xml" Id="Re2dca30d18404cfd" /><Relationship Type="http://schemas.openxmlformats.org/officeDocument/2006/relationships/slide" Target="/ppt/slides/slide6.xml" Id="R4a72ced510504aaa" /><Relationship Type="http://schemas.openxmlformats.org/officeDocument/2006/relationships/slide" Target="/ppt/slides/slide7.xml" Id="R6ea9b8c459804333" /><Relationship Type="http://schemas.openxmlformats.org/officeDocument/2006/relationships/slide" Target="/ppt/slides/slide8.xml" Id="R69f938e9281a419f" /><Relationship Type="http://schemas.openxmlformats.org/officeDocument/2006/relationships/slide" Target="/ppt/slides/slide9.xml" Id="Rc8fd90e3cccb430f" /><Relationship Type="http://schemas.openxmlformats.org/officeDocument/2006/relationships/slide" Target="/ppt/slides/slide10.xml" Id="R95760b9c9e2b4dbf" /><Relationship Type="http://schemas.openxmlformats.org/officeDocument/2006/relationships/slide" Target="/ppt/slides/slide11.xml" Id="R3bfda2e0508b48a7" /><Relationship Type="http://schemas.openxmlformats.org/officeDocument/2006/relationships/slide" Target="/ppt/slides/slide12.xml" Id="Re97e7a86a12b4c0b" /><Relationship Type="http://schemas.openxmlformats.org/officeDocument/2006/relationships/slide" Target="/ppt/slides/slide13.xml" Id="R84eb5efc272a4e76" /><Relationship Type="http://schemas.openxmlformats.org/officeDocument/2006/relationships/slide" Target="/ppt/slides/slide14.xml" Id="R6b0dd143054847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e6fd9b15a944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3a8b1ee8f0475e" /><Relationship Type="http://schemas.openxmlformats.org/officeDocument/2006/relationships/notesMaster" Target="/ppt/notesMasters/notesMaster1.xml" Id="R6a82b39d26f540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c92df31d1246bf" /><Relationship Type="http://schemas.openxmlformats.org/officeDocument/2006/relationships/notesMaster" Target="/ppt/notesMasters/notesMaster1.xml" Id="R729588da08194e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5ac62dc56648b4" /><Relationship Type="http://schemas.openxmlformats.org/officeDocument/2006/relationships/notesMaster" Target="/ppt/notesMasters/notesMaster1.xml" Id="Rbcf42d854ced42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0a71ae57e84949" /><Relationship Type="http://schemas.openxmlformats.org/officeDocument/2006/relationships/notesMaster" Target="/ppt/notesMasters/notesMaster1.xml" Id="Re346a648d3d24a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2b976532d841ca" /><Relationship Type="http://schemas.openxmlformats.org/officeDocument/2006/relationships/notesMaster" Target="/ppt/notesMasters/notesMaster1.xml" Id="Rb4dd5a00e28842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48386e772f49ec" /><Relationship Type="http://schemas.openxmlformats.org/officeDocument/2006/relationships/notesMaster" Target="/ppt/notesMasters/notesMaster1.xml" Id="R32454a38714343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ea8ea955a848db" /><Relationship Type="http://schemas.openxmlformats.org/officeDocument/2006/relationships/notesMaster" Target="/ppt/notesMasters/notesMaster1.xml" Id="Rc3a1b4646bb845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c8464386ad4c74" /><Relationship Type="http://schemas.openxmlformats.org/officeDocument/2006/relationships/notesMaster" Target="/ppt/notesMasters/notesMaster1.xml" Id="R2372fae6cdea45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f722e9a2ad4651" /><Relationship Type="http://schemas.openxmlformats.org/officeDocument/2006/relationships/notesMaster" Target="/ppt/notesMasters/notesMaster1.xml" Id="R8e65f747082a4a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e7e2a548e24952" /><Relationship Type="http://schemas.openxmlformats.org/officeDocument/2006/relationships/notesMaster" Target="/ppt/notesMasters/notesMaster1.xml" Id="Re8d153abb29847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41de3950e34a61" /><Relationship Type="http://schemas.openxmlformats.org/officeDocument/2006/relationships/notesMaster" Target="/ppt/notesMasters/notesMaster1.xml" Id="R0ce907d8b54142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f458ac103d4f21" /><Relationship Type="http://schemas.openxmlformats.org/officeDocument/2006/relationships/notesMaster" Target="/ppt/notesMasters/notesMaster1.xml" Id="R28f38b5ac3f74f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de4b0d7b6a4030" /><Relationship Type="http://schemas.openxmlformats.org/officeDocument/2006/relationships/notesMaster" Target="/ppt/notesMasters/notesMaster1.xml" Id="R712199a66fc84c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9ebd75c74b4608" /><Relationship Type="http://schemas.openxmlformats.org/officeDocument/2006/relationships/notesMaster" Target="/ppt/notesMasters/notesMaster1.xml" Id="R9a8118834c2b44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o tema e contextualizar o FitPro como solução acadêmica aplicada ao Studio Bio Fitness. Fonte interna: TCC revisado, capa e introdução.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primeiro o problema operacional e depois a resposta do projeto. Fonte interna: TCC revisado, Introdução e Objetivos.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Ressaltar que o levantamento foi iterativo, não uma pesquisa estatística generalizável. Fonte interna: TCC revisado, Metodologia, seções 4.1 a 4.3.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Apresentar rapidamente os quatro perfis e destacar que o roteamento não é apenas visual: há checagem central de sessão e papel. Fonte interna: TCC revisado, requisitos RF01 e seção 6.1.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que o Supabase não elimina a responsabilidade de segurança: RLS e funções de servidor foram adicionadas deliberadamente. Fonte interna: TCC revisado, Fundamentação 3.3 a 3.7 e seção 6.9.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Mostre que as telas já correspondem aos quatro perfis descritos na documentação. Fonte interna: capturas locais do FitPro e TCC revisado, seções 6.1 e 6.2.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esta lâmina para navegar pelos três perfis mais operacionais. Fonte interna: imagens 14, 16 e 18 extraídas da documentação do projeto.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Explicação simples: a mesma regra protege todos os painéis e reduz duplicação. Fonte: src/components/shared/ProtectedRoute.tsx.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Relacionar o trecho ao ganho prático: continuidade do registro de frequência e dos treinos. Fonte: src/store/dataStore.ts e função SQL salvar_ficha_treino.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Deixar claro que as migrações estabelecem a base de segurança, mas o ambiente implantado ainda precisa de testes específicos de autorização. Fontes: supabase/functions/create-member/index.ts e supabase/migrations/202609..._isolate_academies_and_sync_payments.sql.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Resultados verificados localmente em 22/09/2026: 9 arquivos de teste, 26 testes aprovados, typecheck e build aprovados; 21 migrações e 3 Edge Functions no repositório.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pergunta mostrada na imagem é uma reconstrução didática, não um print histórico da conversa. Ela exemplifica o pedido que levou à avaliação do Supabase. A recomendação foi condicionada a controles de segurança. Fonte interna: TCC revisado, seção 4.4.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Não apresentar a imagem como print histórico. Ela foi produzida como reconstrução didática porque a conversa original completa não estava disponível. Fonte interna: TCC revisado, Figura 24 e seção 6.10.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Encerrar retomando a contribuição: centralização dos fluxos, persistência dos treinos e evolução concreta da segurança. Abrir para perguntas.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7c16853a7f46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39486851d04d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008b647333406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0fbe73366243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55fe8dbe5344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073597ff364f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5f68bd68b74aa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59f8d162804e8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a6cae5ddb4f16" /><Relationship Type="http://schemas.openxmlformats.org/officeDocument/2006/relationships/image" Target="/ppt/media/image.png" Id="R45c134703eca4e2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d6f4a586c345b9" /><Relationship Type="http://schemas.openxmlformats.org/officeDocument/2006/relationships/image" Target="/ppt/media/image2.png" Id="R975858f88de743b8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45c134703eca4e2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975858f88de743b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a4acf8134644b5" /><Relationship Type="http://schemas.openxmlformats.org/officeDocument/2006/relationships/slideLayout" Target="/ppt/slideLayouts/slideLayout1.xml" Id="R08217f65a5004efb" /><Relationship Type="http://schemas.openxmlformats.org/officeDocument/2006/relationships/slideLayout" Target="/ppt/slideLayouts/slideLayout2.xml" Id="R08e0235ac9094c81" /><Relationship Type="http://schemas.openxmlformats.org/officeDocument/2006/relationships/slideLayout" Target="/ppt/slideLayouts/slideLayout3.xml" Id="Ref0fa321123547cc" /><Relationship Type="http://schemas.openxmlformats.org/officeDocument/2006/relationships/slideLayout" Target="/ppt/slideLayouts/slideLayout4.xml" Id="R126cafb1f51948fc" /><Relationship Type="http://schemas.openxmlformats.org/officeDocument/2006/relationships/slideLayout" Target="/ppt/slideLayouts/slideLayout5.xml" Id="Ra63f6d9da0a749f5" /><Relationship Type="http://schemas.openxmlformats.org/officeDocument/2006/relationships/slideLayout" Target="/ppt/slideLayouts/slideLayout6.xml" Id="R80e644416dc24dd5" /><Relationship Type="http://schemas.openxmlformats.org/officeDocument/2006/relationships/slideLayout" Target="/ppt/slideLayouts/slideLayout7.xml" Id="R9c4b3eb5dc894282" /><Relationship Type="http://schemas.openxmlformats.org/officeDocument/2006/relationships/slideLayout" Target="/ppt/slideLayouts/slideLayout8.xml" Id="R113ee16104e24814" /><Relationship Type="http://schemas.openxmlformats.org/officeDocument/2006/relationships/slideLayout" Target="/ppt/slideLayouts/slideLayout9.xml" Id="R0059470e0a8b4d81" /><Relationship Type="http://schemas.openxmlformats.org/officeDocument/2006/relationships/slideLayout" Target="/ppt/slideLayouts/slideLayout10.xml" Id="Ra0ca71827b0b4f3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217f65a5004efb"/>
    <p:sldLayoutId xmlns:r="http://schemas.openxmlformats.org/officeDocument/2006/relationships" id="2147483650" r:id="R08e0235ac9094c81"/>
    <p:sldLayoutId xmlns:r="http://schemas.openxmlformats.org/officeDocument/2006/relationships" id="2147483651" r:id="Ref0fa321123547cc"/>
    <p:sldLayoutId xmlns:r="http://schemas.openxmlformats.org/officeDocument/2006/relationships" id="2147483652" r:id="R126cafb1f51948fc"/>
    <p:sldLayoutId xmlns:r="http://schemas.openxmlformats.org/officeDocument/2006/relationships" id="2147483653" r:id="Ra63f6d9da0a749f5"/>
    <p:sldLayoutId xmlns:r="http://schemas.openxmlformats.org/officeDocument/2006/relationships" id="2147483654" r:id="R80e644416dc24dd5"/>
    <p:sldLayoutId xmlns:r="http://schemas.openxmlformats.org/officeDocument/2006/relationships" id="2147483655" r:id="R9c4b3eb5dc894282"/>
    <p:sldLayoutId xmlns:r="http://schemas.openxmlformats.org/officeDocument/2006/relationships" id="2147483656" r:id="R113ee16104e24814"/>
    <p:sldLayoutId xmlns:r="http://schemas.openxmlformats.org/officeDocument/2006/relationships" id="2147483657" r:id="R0059470e0a8b4d81"/>
    <p:sldLayoutId xmlns:r="http://schemas.openxmlformats.org/officeDocument/2006/relationships" id="2147483658" r:id="Ra0ca71827b0b4f37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59da7a337455c" /><Relationship Type="http://schemas.openxmlformats.org/officeDocument/2006/relationships/notesSlide" Target="/ppt/notesSlides/notesSlide1.xml" Id="R5b5ff382d19c40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b30b9930444578" /><Relationship Type="http://schemas.openxmlformats.org/officeDocument/2006/relationships/notesSlide" Target="/ppt/notesSlides/notesSlide2.xml" Id="R8f85f1b26e3c45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c7033c8547423b" /><Relationship Type="http://schemas.openxmlformats.org/officeDocument/2006/relationships/notesSlide" Target="/ppt/notesSlides/notesSlide3.xml" Id="R9a53fbef00084f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8bafb7908842da" /><Relationship Type="http://schemas.openxmlformats.org/officeDocument/2006/relationships/notesSlide" Target="/ppt/notesSlides/notesSlide4.xml" Id="R4535a4509b4943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beff5dda484cd4" /><Relationship Type="http://schemas.openxmlformats.org/officeDocument/2006/relationships/notesSlide" Target="/ppt/notesSlides/notesSlide5.xml" Id="Ra6e89dd3a5f942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c218adbc45442e" /><Relationship Type="http://schemas.openxmlformats.org/officeDocument/2006/relationships/image" Target="/ppt/media/image3.png" Id="R395db14f87bd405b" /><Relationship Type="http://schemas.openxmlformats.org/officeDocument/2006/relationships/image" Target="/ppt/media/image4.png" Id="Rf616f74ca6104b7c" /><Relationship Type="http://schemas.openxmlformats.org/officeDocument/2006/relationships/notesSlide" Target="/ppt/notesSlides/notesSlide6.xml" Id="R4a6f12b52dcd4a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326c3cf8594752" /><Relationship Type="http://schemas.openxmlformats.org/officeDocument/2006/relationships/image" Target="/ppt/media/image5.png" Id="R849885503c6f4752" /><Relationship Type="http://schemas.openxmlformats.org/officeDocument/2006/relationships/image" Target="/ppt/media/image6.png" Id="R77b8afe9cdc0465d" /><Relationship Type="http://schemas.openxmlformats.org/officeDocument/2006/relationships/image" Target="/ppt/media/image7.png" Id="R326849513293486e" /><Relationship Type="http://schemas.openxmlformats.org/officeDocument/2006/relationships/notesSlide" Target="/ppt/notesSlides/notesSlide7.xml" Id="R54ed5c63fc7445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d701060a804dff" /><Relationship Type="http://schemas.openxmlformats.org/officeDocument/2006/relationships/image" Target="/ppt/media/image8.png" Id="R3c85e94f2a624d39" /><Relationship Type="http://schemas.openxmlformats.org/officeDocument/2006/relationships/notesSlide" Target="/ppt/notesSlides/notesSlide8.xml" Id="R9229da3e48e24a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c7bfaea3c348bc" /><Relationship Type="http://schemas.openxmlformats.org/officeDocument/2006/relationships/image" Target="/ppt/media/image9.png" Id="R91f02294cbcc4d3f" /><Relationship Type="http://schemas.openxmlformats.org/officeDocument/2006/relationships/notesSlide" Target="/ppt/notesSlides/notesSlide9.xml" Id="R2e250056e4cf46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2e16d058c64e8e" /><Relationship Type="http://schemas.openxmlformats.org/officeDocument/2006/relationships/image" Target="/ppt/media/image10.png" Id="R3eb7e3766704471b" /><Relationship Type="http://schemas.openxmlformats.org/officeDocument/2006/relationships/image" Target="/ppt/media/image11.png" Id="R67a7e40a653d4de1" /><Relationship Type="http://schemas.openxmlformats.org/officeDocument/2006/relationships/notesSlide" Target="/ppt/notesSlides/notesSlide10.xml" Id="R23f521735c0043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de2a759ba04481" /><Relationship Type="http://schemas.openxmlformats.org/officeDocument/2006/relationships/notesSlide" Target="/ppt/notesSlides/notesSlide11.xml" Id="Rdd47487303354d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f56bf970b84834" /><Relationship Type="http://schemas.openxmlformats.org/officeDocument/2006/relationships/image" Target="/ppt/media/image12.png" Id="R7badb75365264593" /><Relationship Type="http://schemas.openxmlformats.org/officeDocument/2006/relationships/notesSlide" Target="/ppt/notesSlides/notesSlide12.xml" Id="R12798226963f4b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cd28a6be614518" /><Relationship Type="http://schemas.openxmlformats.org/officeDocument/2006/relationships/image" Target="/ppt/media/image13.png" Id="R4845e91c9c5c4d86" /><Relationship Type="http://schemas.openxmlformats.org/officeDocument/2006/relationships/notesSlide" Target="/ppt/notesSlides/notesSlide13.xml" Id="R1492a9a9577e46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478cc2c134487" /><Relationship Type="http://schemas.openxmlformats.org/officeDocument/2006/relationships/notesSlide" Target="/ppt/notesSlides/notesSlide14.xml" Id="R0d180fd9bf6645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8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08131-E9B0-4D95-99F1-F51ED393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C7EA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A8C7EA"/>
                </a:solidFill>
                <a:latin typeface="Helvetica Neue Medium"/>
                <a:ea typeface="Helvetica Neue Medium"/>
                <a:cs typeface="Helvetica Neue Medium"/>
              </a:rPr>
              <a:t>FEMA • ANÁLISE E DESENVOLVIMENTO DE SISTEMAS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9497F-5FF1-4BF8-81B9-908323E7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72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4AC27-A446-4ECB-8A10-78E74709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809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435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FitPro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617F9-4054-41D1-8B52-4BA26E81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09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DE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DEBFA"/>
                </a:solidFill>
                <a:latin typeface="Helvetica Neue"/>
                <a:ea typeface="Helvetica Neue"/>
                <a:cs typeface="Helvetica Neue"/>
              </a:rPr>
              <a:t>Sistema web para gestão de pequenas academias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C7CC0-22CC-481B-A8A5-A01AD0A4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28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B9E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350" b="1">
                <a:solidFill>
                  <a:srgbClr val="8FB9E8"/>
                </a:solidFill>
                <a:latin typeface="Helvetica Neue Medium"/>
                <a:ea typeface="Helvetica Neue Medium"/>
                <a:cs typeface="Helvetica Neue Medium"/>
              </a:rPr>
              <a:t>Trabalho de Conclusão de Curso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12FAC-E82D-4B8F-8997-76F66388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Rafael Bavaresco Messias Moura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Orientador: Prof. Esp. Célio Desiró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EEDBA-1200-4FD6-A097-C96290D4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C7EA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A8C7EA"/>
                </a:solidFill>
                <a:latin typeface="Helvetica Neue Medium"/>
                <a:ea typeface="Helvetica Neue Medium"/>
                <a:cs typeface="Helvetica Neue Medium"/>
              </a:rPr>
              <a:t>Assis/SP •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F7145-1819-42A0-80D9-713E95D6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2571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315C"/>
          </a:solidFill>
          <a:ln xmlns:a="http://schemas.openxmlformats.org/drawingml/2006/main" w="9525">
            <a:solidFill>
              <a:srgbClr val="4F729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CE373-A135-485E-A606-3D169AA2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38675"/>
            <a:ext cx="2152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Gestão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+ treino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+ segurança</a:t>
            </a:r>
          </a:p>
        </p:txBody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7BF2D-8722-4E9E-BDE4-A4A6386E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AD4D2-DBFF-4AD7-8274-224BFEF3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Por que o FitPro foi desenvolvido?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D3A4A-7E6B-4FA9-A5F2-6D41E488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Centralizar a operação sem esconder os requisitos de segurança.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137DA-D442-4B20-89E8-2BBFE6E3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922DE-EFF1-49CD-8A88-CD054DD7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0B810-E6CA-4055-8181-8A4962E5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F0357-31C0-40A9-8C8F-A5A47B56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0"/>
            <a:ext cx="347662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6F557-0461-4EF8-8BE2-763A31FB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36B00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B36B00"/>
                </a:solidFill>
                <a:latin typeface="Helvetica Neue Medium"/>
                <a:ea typeface="Helvetica Neue Medium"/>
                <a:cs typeface="Helvetica Neue Medium"/>
              </a:rPr>
              <a:t>Problema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FEC79-A780-49F1-A877-3794DB39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3095625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Cadastros, frequência, treinos e controles financeiros estavam distribuídos entre papéis, planilhas e mensagens.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B6E0D-A83F-410C-A6DB-7A4A1254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19250"/>
            <a:ext cx="347662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4A344-897B-4CBA-9FAF-092CBBE2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90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Objetivo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8A169-1338-4A3B-965D-D2D067E3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3095625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Reunir os fluxos principais em uma aplicação web responsiva para administração, professor, aluno e proprietário.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0987C-95F5-458D-BA7E-BAB7A481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347662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87688-FD16-402A-BD19-EE45FBC6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90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rPr>
              <a:t>Resultado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2ED94F-5919-48FC-B781-9D00CC5F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71700"/>
            <a:ext cx="3095625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Uma base funcional em React e Supabase, com persistência, autenticação, isolamento por academia e validação técnica.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852A7-00A7-4A4E-84A8-606D4554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  <p:txBody>
          <a:bodyPr xmlns:a="http://schemas.openxmlformats.org/drawingml/2006/main" anchor="ctr">
            <a:normAutofit fontScale="9612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8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Questão central: como integrar a gestão da academia e preparar a solução para evoluir com segurança?</a:t>
            </a:r>
          </a:p>
        </p:txBody>
      </p:sp>
    </p:spTree>
    <p:extLst>
      <p:ext uri="{BB962C8B-B14F-4D97-AF65-F5344CB8AC3E}">
        <p14:creationId xmlns:p14="http://schemas.microsoft.com/office/powerpoint/2010/main" val="9854682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DC3C31-3C75-4FB7-97F0-DA9D772B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METODOLOGIA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D8F6E-D1B8-4702-A954-F6625100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Desenvolvimento incremental e verificável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16BB6-5D36-4AB2-A3EE-6CACCA13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Cada ciclo transformou necessidades observadas em uma entrega revisada.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4A4AD-DF85-41D1-AA28-153A8CC9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A7C3F-6196-4ED8-B5E3-D2671B17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83245-16A5-4080-8EA7-0B63FFAF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1DE76-8CA3-46F3-BF73-99A4233E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33550"/>
            <a:ext cx="742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5CD4"/>
          </a:solidFill>
          <a:ln xmlns:a="http://schemas.openxmlformats.org/drawingml/2006/main" w="9525">
            <a:solidFill>
              <a:srgbClr val="175CD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1CE75-715D-4190-B2B3-74C9B955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00300"/>
            <a:ext cx="2524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0B686-8A38-4CF0-8F65-28724ACC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Observar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C74ED-AE6C-46F2-B6F3-77DB0D93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2143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Rotina do Studio Bio Fitness e dificuldades reais.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00551-0696-49C3-B7DB-B737B4E6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38500"/>
            <a:ext cx="304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145EA-783D-485C-882D-A6C98FF6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33550"/>
            <a:ext cx="742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5CD4"/>
          </a:solidFill>
          <a:ln xmlns:a="http://schemas.openxmlformats.org/drawingml/2006/main" w="9525">
            <a:solidFill>
              <a:srgbClr val="175CD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855BB-7DCE-4D5B-8979-5E98BF42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00300"/>
            <a:ext cx="2524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8DD692-C7DC-4C6E-AABC-B0C6B286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Priorizar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6C4E3-DFDA-40A6-8027-92E93B51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2750"/>
            <a:ext cx="2143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Requisitos de maior impacto no uso diário.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361470-FC94-489D-AE53-63C9C57C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38500"/>
            <a:ext cx="304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02AD95-B399-461D-8040-2417B0AF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742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5CD4"/>
          </a:solidFill>
          <a:ln xmlns:a="http://schemas.openxmlformats.org/drawingml/2006/main" w="9525">
            <a:solidFill>
              <a:srgbClr val="175CD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C008E-E459-4E05-9B62-F78E5E77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2524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68709F-8F96-4B6D-9A27-4D0C0A42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Implementar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1050A-958C-4F06-9BEC-C0B7CE98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143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Interface, persistência e regras de acesso.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1AAC0C-7C8A-4170-9325-9FCADFDF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38500"/>
            <a:ext cx="304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F919E6-3F0E-475B-A0E3-31709BF2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33550"/>
            <a:ext cx="742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5CD4"/>
          </a:solidFill>
          <a:ln xmlns:a="http://schemas.openxmlformats.org/drawingml/2006/main" w="9525">
            <a:solidFill>
              <a:srgbClr val="175CD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611A03-5A94-4832-A1AD-020A6136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00300"/>
            <a:ext cx="2524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D026AC-0239-404A-B6CF-7418CE38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717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Validar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4F731F-998D-4159-A8E8-D55DB3A1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52750"/>
            <a:ext cx="2143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Código, testes, tipos, build e documentação.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83D97A-EB1F-4A0C-954E-36AF9862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42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Natureza aplicada e exploratória • abordagem qualitativa • escopo acadêmico</a:t>
            </a:r>
          </a:p>
        </p:txBody>
      </p:sp>
    </p:spTree>
    <p:extLst>
      <p:ext uri="{BB962C8B-B14F-4D97-AF65-F5344CB8AC3E}">
        <p14:creationId xmlns:p14="http://schemas.microsoft.com/office/powerpoint/2010/main" val="985468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F5A2CA-4693-4505-A596-55DC3F54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ESCOPO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4BE6F-BD6E-4C0C-8635-479FB3CA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Quatro perfis, quatro experiências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4D112-7F16-47C9-B0DF-8E58B83D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Cada papel recebe rotas e funções compatíveis com sua responsabilidade.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3E48F-53C4-4381-B0E2-87232558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FAD01-A326-424B-93D4-F594C60A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32C28-1D97-42DA-85BE-DBFDFB38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00D28-E893-4A62-B4BC-A13B8C0D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0"/>
            <a:ext cx="2524125" cy="333375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AE3E8-6FB7-4F41-BFE0-1180D08A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47875"/>
            <a:ext cx="838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3668"/>
          </a:solidFill>
          <a:ln xmlns:a="http://schemas.openxmlformats.org/drawingml/2006/main" w="9525">
            <a:solidFill>
              <a:srgbClr val="0B366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7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20374-ABA1-4256-A7E1-29C8956E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Proprietário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1FD76-C907-4CA4-B2FC-EFD24B3E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2066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Academias e responsáveis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4BB59-B92D-4BFA-8570-7519383D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14500"/>
            <a:ext cx="2524125" cy="333375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F8423-865E-49A7-8D91-BAF8E17E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047875"/>
            <a:ext cx="838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8A5F"/>
          </a:solidFill>
          <a:ln xmlns:a="http://schemas.openxmlformats.org/drawingml/2006/main" w="9525">
            <a:solidFill>
              <a:srgbClr val="0F8A5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7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E644A-EC41-4EB5-BB33-E338BB0F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Administração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64BA2-4DA7-4ACF-8AEF-620D0C42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667125"/>
            <a:ext cx="2066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Cadastros, finanças e relatórios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0ACEC-6969-4695-B0E2-0A24C5E0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524125" cy="333375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39DBF1-CA37-42CF-B039-CD5DD7F9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47875"/>
            <a:ext cx="838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75CD4"/>
          </a:solidFill>
          <a:ln xmlns:a="http://schemas.openxmlformats.org/drawingml/2006/main" w="9525">
            <a:solidFill>
              <a:srgbClr val="175CD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7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EDEA4-3A25-4F01-9CDC-1CBC40FB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Professor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6F9D9-DB24-476A-9BD8-F0309B6C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67125"/>
            <a:ext cx="2066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Agenda, chamada e fichas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C4A0C-9826-4B2F-9CA3-6E315DAE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14500"/>
            <a:ext cx="2524125" cy="333375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1C726-1929-447B-B070-F9932381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047875"/>
            <a:ext cx="838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A33A3A"/>
          </a:solidFill>
          <a:ln xmlns:a="http://schemas.openxmlformats.org/drawingml/2006/main" w="9525">
            <a:solidFill>
              <a:srgbClr val="A33A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7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CF315C-F4F3-43F3-998F-669B0F75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43250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Aluno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2B031D-7A7E-43A3-BD6D-5F539672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667125"/>
            <a:ext cx="2066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Treino, peso e mensalidade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71DB49-7B38-4BC1-AF35-F90A9F63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A proteção de rotas verifica sessão, papel e pendência de primeiro acesso.</a:t>
            </a:r>
          </a:p>
        </p:txBody>
      </p:sp>
    </p:spTree>
    <p:extLst>
      <p:ext uri="{BB962C8B-B14F-4D97-AF65-F5344CB8AC3E}">
        <p14:creationId xmlns:p14="http://schemas.microsoft.com/office/powerpoint/2010/main" val="9854682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FC6369-4023-4F83-9706-50A61378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ARQUITETURA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1CD57-E568-428D-83E6-3E3DAEAB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Como a solução foi organizada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1F09E-E938-4C93-8459-186DEA47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Interface, estado, autenticação e dados em camadas explícitas.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B2F3C-CA18-4FC7-9165-A4582F3F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F3A0E-50C8-4074-B39C-40DE0697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C0160-2F49-4B95-8419-37FE10CC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F3C0D-BE12-4541-84BD-3F82E536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43125"/>
            <a:ext cx="23812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02919-117D-477E-AAD7-DD9F7242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React + TypeScript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22DF9-1855-4C15-BCA9-60A2A2B7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2000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Interface e rotas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9F1CE-064A-465A-8A53-982C8FDB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9525">
            <a:solidFill>
              <a:srgbClr val="175C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88CCC-90E0-44F9-9DED-AC5CC52C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43125"/>
            <a:ext cx="23812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5680A-AB4E-4B1F-900A-3118063B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145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Zustand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017FC-C63E-4B25-9827-4AB7D451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95575"/>
            <a:ext cx="2000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Sessão e estado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EF639-4A0A-487A-A166-29A58535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8130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9525">
            <a:solidFill>
              <a:srgbClr val="175C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7F058-29C8-45C3-A8C9-DCB509CB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23812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36E4A-34B3-4495-9AE4-3B2EE656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145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Supabase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E9F52-8F57-4395-BFB6-D3EA7EEA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95575"/>
            <a:ext cx="2000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Auth, Data API e funções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447969-DF8A-4AF9-8E2C-2CE176D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9525">
            <a:solidFill>
              <a:srgbClr val="175C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B2D99-B024-44A6-A60D-6A5B85E6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43125"/>
            <a:ext cx="23812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79CFDE-390E-4C52-B8F4-4A3EB304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145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PostgreSQL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670605-4145-432E-8370-101889BA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95575"/>
            <a:ext cx="2000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Dados, SQL e RLS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908D30-B104-4A3A-8454-1AEDD3CB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81500"/>
            <a:ext cx="3429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6D9721-9C07-49B7-8088-16644303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529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rPr>
              <a:t>Edge Functions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C097C0-8B76-4E2D-B169-C17368C6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339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Criação de contas e redefinição de senhas fora do navegador.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AED38B-41F7-4FF5-8E40-3FB00FDD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1500"/>
            <a:ext cx="3429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AC051F-8ACD-46D0-A470-9E31DB12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529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Isolamento por academia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678089-AC78-4523-B819-D228399B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339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academy_id + políticas RLS limitam leitura e escrita à unidade da sessão.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5795A7-D31A-46B5-9467-971DC7B8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10000"/>
            <a:ext cx="762000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854682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523CA-7C0E-44C1-988F-F6610915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60E64-219A-4072-BA06-80117133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A entrada do sistema hoje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C0D47-8B7D-4FFA-9BB7-6BC1D4AC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Seleção de perfil e autenticação com CPF e senha.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EB5A8-A431-4797-93BB-715CEEDE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24034-C6A8-4D99-8804-1BCBDD86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4198B-9D5C-4C58-A01E-9A7B3D00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6E008-D33A-4E7A-995D-3FFA9042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5524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db14f87bd405b"/>
          <a:stretch xmlns:a="http://schemas.openxmlformats.org/drawingml/2006/main"/>
        </p:blipFill>
        <p:spPr>
          <a:xfrm xmlns:a="http://schemas.openxmlformats.org/drawingml/2006/main">
            <a:off x="476250" y="1666875"/>
            <a:ext cx="5334000" cy="333375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1B345-49B2-4204-9C0E-9AFBF23C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524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6f74ca6104b7c"/>
          <a:stretch xmlns:a="http://schemas.openxmlformats.org/drawingml/2006/main"/>
        </p:blipFill>
        <p:spPr>
          <a:xfrm xmlns:a="http://schemas.openxmlformats.org/drawingml/2006/main">
            <a:off x="6381750" y="1666875"/>
            <a:ext cx="5334000" cy="333375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F3892-0AB8-47AE-B47A-F920AECA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863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Quatro perfis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C7A3C-467E-43DF-BBFD-8CFE23D1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863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Sessão + primeiro acesso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A9B8A-E452-4094-ADD9-67A1AD6C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816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O CPF é normalizado e convertido em um identificador técnico compatível com o Supabase Auth.</a:t>
            </a:r>
          </a:p>
        </p:txBody>
      </p:sp>
    </p:spTree>
    <p:extLst>
      <p:ext uri="{BB962C8B-B14F-4D97-AF65-F5344CB8AC3E}">
        <p14:creationId xmlns:p14="http://schemas.microsoft.com/office/powerpoint/2010/main" val="9854682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7857EA-E6F7-46A1-8EED-1E113A1F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FDD6C-124A-468F-B764-EE404CCD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Três fluxos centrais em funcionamento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C8AEC-03B6-4C7E-8C83-0732F7BD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Gestão, rotina do professor e acompanhamento do aluno.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6B739-9E7A-4224-BAE8-D1B1BA7A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A6F88-29A8-4C52-A66E-54D48DE7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01708-4E54-4634-914F-87C09C92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7E1D8-0580-47E5-83D7-8D38C956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3429000" cy="433387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885503c6f4752"/>
          <a:stretch xmlns:a="http://schemas.openxmlformats.org/drawingml/2006/main"/>
        </p:blipFill>
        <p:spPr>
          <a:xfrm xmlns:a="http://schemas.openxmlformats.org/drawingml/2006/main">
            <a:off x="1106037" y="1676400"/>
            <a:ext cx="1978927" cy="2238375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200D2-93DC-40B5-AD2B-37CB83B9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7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Administração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D611C-99F3-4F67-BAB1-808AE7BD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Cadastros, finanças, agenda, relatórios e planos.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E1C98-DC8F-47D7-87A2-6501DE3C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24000"/>
            <a:ext cx="3429000" cy="433387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8afe9cdc0465d"/>
          <a:stretch xmlns:a="http://schemas.openxmlformats.org/drawingml/2006/main"/>
        </p:blipFill>
        <p:spPr>
          <a:xfrm xmlns:a="http://schemas.openxmlformats.org/drawingml/2006/main">
            <a:off x="4343400" y="2211917"/>
            <a:ext cx="3124200" cy="1167341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4ECBB-F26F-4F07-9966-BD1C6640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481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7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Professor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DEE6C-4DF8-4FAB-86B0-9B84B5DF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577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Turmas do dia, chamada persistida e criação de fichas.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D4C1A5-8339-41CD-A9EB-6E6DF025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3429000" cy="433387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849513293486e"/>
          <a:stretch xmlns:a="http://schemas.openxmlformats.org/drawingml/2006/main"/>
        </p:blipFill>
        <p:spPr>
          <a:xfrm xmlns:a="http://schemas.openxmlformats.org/drawingml/2006/main">
            <a:off x="8153400" y="2109420"/>
            <a:ext cx="3124200" cy="1372336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0542F1-43F6-41DB-A7FE-4F1553EA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481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7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Aluno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02EC6-560D-48A5-8772-DF929BAC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577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Treino, peso, séries realizadas e mensalidade.</a:t>
            </a:r>
          </a:p>
        </p:txBody>
      </p:sp>
    </p:spTree>
    <p:extLst>
      <p:ext uri="{BB962C8B-B14F-4D97-AF65-F5344CB8AC3E}">
        <p14:creationId xmlns:p14="http://schemas.microsoft.com/office/powerpoint/2010/main" val="9854682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13761F-BBDD-4947-A572-D6A9CFA8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CÓDIGO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03EED-3191-470E-88B2-567D1782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Proteção das rotas por perfil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02DEF-0D97-4BD4-B95C-75509693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Uma verificação central decide quem pode acessar cada painel.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F0DB0-5ED8-4341-B1DB-4C424404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912C0-1E19-4CE0-ABB0-EF558B47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DDF76-1388-4D94-838F-627C3F81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2DB0E-0F27-45C9-A7C0-59DA457E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76375"/>
            <a:ext cx="76200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8284F"/>
          </a:solidFill>
          <a:ln xmlns:a="http://schemas.openxmlformats.org/drawingml/2006/main" w="9525">
            <a:solidFill>
              <a:srgbClr val="08284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5e94f2a624d39"/>
          <a:stretch xmlns:a="http://schemas.openxmlformats.org/drawingml/2006/main"/>
        </p:blipFill>
        <p:spPr>
          <a:xfrm xmlns:a="http://schemas.openxmlformats.org/drawingml/2006/main">
            <a:off x="533400" y="1571625"/>
            <a:ext cx="7315200" cy="4572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A8783-A486-4240-B3F3-E15C582C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76375"/>
            <a:ext cx="3476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B8936-8FE1-4C1D-A7A5-31253905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4782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42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1. Confere a sessão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21399-29D6-4978-B87B-DC91564B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28825"/>
            <a:ext cx="309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Se não há usuário autenticado, o acesso é redirecionado para o login.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54FEA-7364-4D1B-8C60-11500B6F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43250"/>
            <a:ext cx="3476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7FD8F-CA4F-4AF3-87CE-C9D843C4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14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42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2. Confere o papel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097BA-5F93-4C07-933F-A32FB11E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95700"/>
            <a:ext cx="309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O perfil solicitado precisa coincidir com o papel carregado na sessão.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CF6DD-050F-4B08-A793-9EAB6634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0125"/>
            <a:ext cx="3476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42F90-FF29-4D01-B1BE-AABFD7AF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98157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42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3. Trata o primeiro acesso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EE342F-CDEC-465E-897C-BCFD98B1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62575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Contas temporárias são enviadas para a troca de senha antes do uso normal.</a:t>
            </a:r>
          </a:p>
        </p:txBody>
      </p:sp>
    </p:spTree>
    <p:extLst>
      <p:ext uri="{BB962C8B-B14F-4D97-AF65-F5344CB8AC3E}">
        <p14:creationId xmlns:p14="http://schemas.microsoft.com/office/powerpoint/2010/main" val="9854682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98F12-5CB2-47B8-9D8F-5E123DB7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CÓDIGO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E7DD3-E0F0-409B-B16B-5E192A56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Frequência e ficha de treino persistidas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605B6-7648-4E1A-829F-78B3B059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A interface grava dados que podem ser recuperados em outra sessão.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97CFA-FCAD-468B-8368-7328A0A3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98544-2F8A-4A33-A706-16FAC335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D1949-873B-40AE-8759-D64BF99F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25077-595A-4514-98E3-9CA59A4C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76375"/>
            <a:ext cx="76200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8284F"/>
          </a:solidFill>
          <a:ln xmlns:a="http://schemas.openxmlformats.org/drawingml/2006/main" w="9525">
            <a:solidFill>
              <a:srgbClr val="08284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02294cbcc4d3f"/>
          <a:stretch xmlns:a="http://schemas.openxmlformats.org/drawingml/2006/main"/>
        </p:blipFill>
        <p:spPr>
          <a:xfrm xmlns:a="http://schemas.openxmlformats.org/drawingml/2006/main">
            <a:off x="533400" y="1571625"/>
            <a:ext cx="7315200" cy="4572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16515-EB76-4795-80DF-C8A44EB8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76375"/>
            <a:ext cx="34766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BDA72-6AD8-411F-8774-0C09DDA4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4782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rPr>
              <a:t>Chamada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5633D-D01C-48A7-B65D-273A4655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28825"/>
            <a:ext cx="3095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A presença é salva por aluno, turma e data com operação de upsert.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1E25C-A995-4F06-8016-79FFA4E2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38500"/>
            <a:ext cx="34766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27C9F-B588-4A19-B56D-B089CD22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0995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Ficha de treino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46965-93FF-4D35-861E-389C5F22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90950"/>
            <a:ext cx="3095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Uma função SQL grava o treino e substitui os exercícios dentro de uma transação.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94FEE-7A78-4FAD-8AE7-297D0545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00625"/>
            <a:ext cx="3476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E81D91-0166-497D-A3D9-912562B6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17207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Benefício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80162-EDC0-4362-A5A3-9121938C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53075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Os dados deixam de depender apenas da memória da tela.</a:t>
            </a:r>
          </a:p>
        </p:txBody>
      </p:sp>
    </p:spTree>
    <p:extLst>
      <p:ext uri="{BB962C8B-B14F-4D97-AF65-F5344CB8AC3E}">
        <p14:creationId xmlns:p14="http://schemas.microsoft.com/office/powerpoint/2010/main" val="9854682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5A444-6512-40ED-98A4-117CE8EB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SEGURANÇA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7E4D8-3028-4A85-AF0C-32BE69A0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Controles no servidor e no banco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65575-887A-4341-8CE1-0D0D4630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A interface deixou de ser a única barreira de acesso.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E4D93-A792-4585-817D-7A0D3619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435CB-A132-422A-AC28-1DF119C0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C4B74-3667-4441-BB0B-C6F96A90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83590-319E-4D86-BE7B-56CE56B4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76375"/>
            <a:ext cx="55245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08284F"/>
          </a:solidFill>
          <a:ln xmlns:a="http://schemas.openxmlformats.org/drawingml/2006/main" w="9525">
            <a:solidFill>
              <a:srgbClr val="08284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7e3766704471b"/>
          <a:stretch xmlns:a="http://schemas.openxmlformats.org/drawingml/2006/main"/>
        </p:blipFill>
        <p:spPr>
          <a:xfrm xmlns:a="http://schemas.openxmlformats.org/drawingml/2006/main">
            <a:off x="514350" y="1571625"/>
            <a:ext cx="5257800" cy="3286125"/>
          </a:xfrm>
          <a:prstGeom xmlns:a="http://schemas.openxmlformats.org/drawingml/2006/main" prst="roundRect">
            <a:avLst>
              <a:gd name="adj" fmla="val 231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79E8C-6E07-466F-BE96-8244DB13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55245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08284F"/>
          </a:solidFill>
          <a:ln xmlns:a="http://schemas.openxmlformats.org/drawingml/2006/main" w="9525">
            <a:solidFill>
              <a:srgbClr val="08284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7e40a653d4de1"/>
          <a:stretch xmlns:a="http://schemas.openxmlformats.org/drawingml/2006/main"/>
        </p:blipFill>
        <p:spPr>
          <a:xfrm xmlns:a="http://schemas.openxmlformats.org/drawingml/2006/main">
            <a:off x="6419850" y="1571625"/>
            <a:ext cx="5257800" cy="3286125"/>
          </a:xfrm>
          <a:prstGeom xmlns:a="http://schemas.openxmlformats.org/drawingml/2006/main" prst="roundRect">
            <a:avLst>
              <a:gd name="adj" fmla="val 2319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E7757-1D02-4EE9-83D9-7E08BA06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rPr>
              <a:t>Operações privilegiadas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D9F5A-CA17-43C4-A0AE-EB7FA857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958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Isolamento por academia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72A8D-6CC0-46C7-A675-759CD86D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  <p:txBody>
          <a:bodyPr xmlns:a="http://schemas.openxmlformats.org/drawingml/2006/main" anchor="ctr">
            <a:normAutofit fontScale="9576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3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Edge Functions retiram a chave privilegiada do navegador; RLS restringe consultas e alterações com base na academia da sessão.</a:t>
            </a:r>
          </a:p>
        </p:txBody>
      </p:sp>
    </p:spTree>
    <p:extLst>
      <p:ext uri="{BB962C8B-B14F-4D97-AF65-F5344CB8AC3E}">
        <p14:creationId xmlns:p14="http://schemas.microsoft.com/office/powerpoint/2010/main" val="9854682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27BC77-D321-4F16-936F-731D8831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VALIDAÇÃO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637B9-C83E-4BDA-8956-02C6228E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Evidências da versão analisada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56DB6-9FC1-496E-8B4E-22FE1480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Resultados obtidos diretamente no repositório do projeto.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34D3B-6FC8-4225-85EE-3262AB35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64640-D255-4A8A-A892-3ED9D15E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65A63-93A1-4BFF-8F6B-83E0A2E4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E0D74-0FBF-4D37-8048-E9F3AE79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62125"/>
            <a:ext cx="25241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1A283-74AB-4E2C-8B38-B500CFEC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34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D650B-FA1E-4BB7-BCCA-9969150D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2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perfis de acesso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6C09B-4448-4184-81F9-2C50B773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62125"/>
            <a:ext cx="25241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729A6-9157-4AB9-93B6-AC0207B8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34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F7D1E-6CE1-4579-9D8D-F0CEBCF3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670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2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migrações 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290BF-13A5-47C6-9B28-99647AFF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25241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3AF48-F404-45A2-A469-0A78B31E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34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1E331-E1ED-44FE-B9D3-1B3CFAD2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2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Edge Functions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DF9A9-02C3-4BF9-96A1-B5749F19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62125"/>
            <a:ext cx="25241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0AC36-0146-4B7B-A3AA-27BD36ED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952625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34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C4E53-C7FD-42E0-9851-ED92F1EE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2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testes aprovados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89984F-9344-4E25-836B-C83E1BB9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57625"/>
            <a:ext cx="1143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C55519-CAA7-4442-9DFB-F499F8C4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rPr>
              <a:t>Testes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9195AC-C766-4C74-BD97-9CCB0D2A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9 arquivos / 26 aprovados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D4B1F-68C9-4B44-8D97-8171E797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TypeScript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C46AA2-D62D-4DDA-90F3-0099EAE0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243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checagem de tipos aprovada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A20521-D573-47D8-A93F-6AEA2DC1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Produção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5145A9-F128-48FC-B9D3-89165796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243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build concluído com sucesso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D4C177-0EB1-45D9-971D-5B56BB22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435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Atenção: isso aumenta a confiança, mas não substitui testes de autorização no ambiente implantado.</a:t>
            </a:r>
          </a:p>
        </p:txBody>
      </p:sp>
    </p:spTree>
    <p:extLst>
      <p:ext uri="{BB962C8B-B14F-4D97-AF65-F5344CB8AC3E}">
        <p14:creationId xmlns:p14="http://schemas.microsoft.com/office/powerpoint/2010/main" val="9854682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32AD2-E7E4-419A-AF66-22EC6BBB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PROCESSO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9C916-A54F-4DEB-A384-C9B81635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IA como apoio à decisão técnica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8A7C7-BF5A-45EC-B555-030749AB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Exemplo de pergunta sobre o back-end e o banco de dados do FitPro.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D0D96-C39D-4EB0-95AF-8F35A0D5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D4E15-E8C7-4854-9379-59205F72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A3E9D-1328-4D69-8DDD-6A07AAAC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D4B23-83FA-46E5-942E-1525F111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524375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db75365264593"/>
          <a:stretch xmlns:a="http://schemas.openxmlformats.org/drawingml/2006/main"/>
        </p:blipFill>
        <p:spPr>
          <a:xfrm xmlns:a="http://schemas.openxmlformats.org/drawingml/2006/main">
            <a:off x="533400" y="1524000"/>
            <a:ext cx="6934200" cy="4333875"/>
          </a:xfrm>
          <a:prstGeom xmlns:a="http://schemas.openxmlformats.org/drawingml/2006/main" prst="roundRect">
            <a:avLst>
              <a:gd name="adj" fmla="val 175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607B8-5769-4A6C-AF00-DE4E26AA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3810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CA147-297A-4436-A9AF-3160033D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002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Por que Supabase?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0DCB3-5D7A-40B9-81BF-1BF676D6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Reúne autenticação, PostgreSQL, Data API e funções de servidor em uma única plataforma.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1E3AF-C3DC-4A7D-8EC1-6C0D5F99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0375"/>
            <a:ext cx="3810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56300-9A07-477A-89DA-9F5FFDE6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718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36B00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B36B00"/>
                </a:solidFill>
                <a:latin typeface="Helvetica Neue Medium"/>
                <a:ea typeface="Helvetica Neue Medium"/>
                <a:cs typeface="Helvetica Neue Medium"/>
              </a:rPr>
              <a:t>Condição importante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A8669-1352-437E-BE61-F9642D50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52825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BaaS exige configuração explícita: RLS, isolamento por academia e operações privilegiadas no servidor.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1873F-60E4-48DD-AF76-C0ACE14A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0"/>
            <a:ext cx="3810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2C3B1-D104-4D29-9732-91441097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434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rPr>
              <a:t>Como foi usado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64B88-A94A-4C9E-8556-4D8036F1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24450"/>
            <a:ext cx="342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Sugestões foram confrontadas com o código, a documentação oficial e a execução do sistema.</a:t>
            </a:r>
          </a:p>
        </p:txBody>
      </p:sp>
    </p:spTree>
    <p:extLst>
      <p:ext uri="{BB962C8B-B14F-4D97-AF65-F5344CB8AC3E}">
        <p14:creationId xmlns:p14="http://schemas.microsoft.com/office/powerpoint/2010/main" val="9854682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39495-DE20-437A-8869-B8739252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PROCESSO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DA808-DB3E-402D-9D4B-AF08AB60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Dúvidas tratadas durante o desenvolvimento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E1383-787E-44B4-83FB-A045BEBD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Exemplos reconstruídos para explicar o raciocínio — não são exportação do histórico original.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E6B32-AAD9-473A-81C6-4989DD48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7F624-FD62-47F1-A845-3B3C83E3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696A2-EB45-4E3D-A838-6D26C4AB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C52E9-C797-4798-95CB-2CA8A2B7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76375"/>
            <a:ext cx="7239000" cy="4524375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5e91c9c5c4d86"/>
          <a:stretch xmlns:a="http://schemas.openxmlformats.org/drawingml/2006/main"/>
        </p:blipFill>
        <p:spPr>
          <a:xfrm xmlns:a="http://schemas.openxmlformats.org/drawingml/2006/main">
            <a:off x="533400" y="1571625"/>
            <a:ext cx="6934200" cy="4333875"/>
          </a:xfrm>
          <a:prstGeom xmlns:a="http://schemas.openxmlformats.org/drawingml/2006/main" prst="roundRect">
            <a:avLst>
              <a:gd name="adj" fmla="val 175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4262F-29E4-47C6-A135-0ADD2E9A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76375"/>
            <a:ext cx="3810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283CC-08E2-4D03-BD7E-558AABEF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478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Separação de perfis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9B9F6-F702-4F9C-8A1F-DA718FB7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28825"/>
            <a:ext cx="342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Criar rotas protegidas e redirecionar cada sessão para o painel correspondente.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D9633-D024-4E72-85A4-858CD381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6625"/>
            <a:ext cx="3810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ABF8C-4663-4250-92E0-B0A847FC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480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rPr>
              <a:t>Persistência segura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888B2-4EAF-45B8-AF6B-8BFA0D32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29075"/>
            <a:ext cx="342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Salvar a chamada no PostgreSQL e aplicar RLS para filtrar a academia vinculada à sessão.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C0826-0C7A-4508-BE2E-85468E51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29250"/>
            <a:ext cx="3810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1C8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36B00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B36B00"/>
                </a:solidFill>
                <a:latin typeface="Helvetica Neue Medium"/>
                <a:ea typeface="Helvetica Neue Medium"/>
                <a:cs typeface="Helvetica Neue Medium"/>
              </a:rPr>
              <a:t>TRANSPARÊNCIA ACADÊMICA: reconstrução didática claramente identificada.</a:t>
            </a:r>
          </a:p>
        </p:txBody>
      </p:sp>
    </p:spTree>
    <p:extLst>
      <p:ext uri="{BB962C8B-B14F-4D97-AF65-F5344CB8AC3E}">
        <p14:creationId xmlns:p14="http://schemas.microsoft.com/office/powerpoint/2010/main" val="9854682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28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45E1E-5D82-46F5-A817-C4D0A7A9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C7EA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A8C7EA"/>
                </a:solidFill>
                <a:latin typeface="Helvetica Neue Medium"/>
                <a:ea typeface="Helvetica Neue Medium"/>
                <a:cs typeface="Helvetica Neue Medium"/>
              </a:rPr>
              <a:t>FITPRO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D2BA1-A7BC-49B8-B7DD-86451F68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72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67688-3441-4615-BD11-5C4B342F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6875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435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Obrigado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ECB53-512C-41BC-9BBD-951D7B38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336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DE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DEBFA"/>
                </a:solidFill>
                <a:latin typeface="Helvetica Neue"/>
                <a:ea typeface="Helvetica Neue"/>
                <a:cs typeface="Helvetica Neue"/>
              </a:rPr>
              <a:t>Perguntas?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57BAC-8109-4C4D-B355-D94618E2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67125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FitPro centraliza a gestão, registra o treino e cria uma base mais segura para a evolução do sistema.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A1056-D0BE-4A65-A37F-16D8B4E5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62125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D315C"/>
          </a:solidFill>
          <a:ln xmlns:a="http://schemas.openxmlformats.org/drawingml/2006/main" w="9525">
            <a:solidFill>
              <a:srgbClr val="4F729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4AA69-8B84-49EE-ABCA-3C2898DE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43125"/>
            <a:ext cx="209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1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4 perfis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1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26 testes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1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1 plataforma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A821C-4E4C-4ADF-9BF7-F1690B67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C7EA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A8C7EA"/>
                </a:solidFill>
                <a:latin typeface="Helvetica Neue Medium"/>
                <a:ea typeface="Helvetica Neue Medium"/>
                <a:cs typeface="Helvetica Neue Medium"/>
              </a:rPr>
              <a:t>Rafael Bavaresco Messias Moura • 2026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2026-09-22T21:55:37.8770000Z</dcterms:created>
  <dcterms:modified xsi:type="dcterms:W3CDTF">2026-09-22T21:55:37.8770000Z</dcterms:modified>
</coreProperties>
</file>