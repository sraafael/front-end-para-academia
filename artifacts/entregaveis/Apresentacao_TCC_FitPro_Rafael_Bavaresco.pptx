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6c770f02be4202" /><Relationship Type="http://schemas.openxmlformats.org/officeDocument/2006/relationships/extended-properties" Target="/docProps/app.xml" Id="R3b970dfef09442d7" /><Relationship Type="http://schemas.openxmlformats.org/officeDocument/2006/relationships/officeDocument" Target="/ppt/presentation.xml" Id="R3ef626267f3448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0d2add9b17f4403"/>
  </p:sldMasterIdLst>
  <p:notesMasterIdLst>
    <p:notesMasterId xmlns:r="http://schemas.openxmlformats.org/officeDocument/2006/relationships" r:id="R62637ddec4c349b2"/>
  </p:notesMasterIdLst>
  <p:sldIdLst>
    <p:sldId xmlns:r="http://schemas.openxmlformats.org/officeDocument/2006/relationships" id="256" r:id="R75da83d18766479e"/>
    <p:sldId xmlns:r="http://schemas.openxmlformats.org/officeDocument/2006/relationships" id="257" r:id="Rdc1a7e29eda84561"/>
    <p:sldId xmlns:r="http://schemas.openxmlformats.org/officeDocument/2006/relationships" id="258" r:id="Raa02731fc9bc449f"/>
    <p:sldId xmlns:r="http://schemas.openxmlformats.org/officeDocument/2006/relationships" id="259" r:id="Rdf6b0b85565a45ba"/>
    <p:sldId xmlns:r="http://schemas.openxmlformats.org/officeDocument/2006/relationships" id="260" r:id="Rdbb0ed46d7834540"/>
    <p:sldId xmlns:r="http://schemas.openxmlformats.org/officeDocument/2006/relationships" id="261" r:id="Rbb63bba5968b440c"/>
    <p:sldId xmlns:r="http://schemas.openxmlformats.org/officeDocument/2006/relationships" id="262" r:id="R0630f967c0a5485d"/>
    <p:sldId xmlns:r="http://schemas.openxmlformats.org/officeDocument/2006/relationships" id="263" r:id="Rb5b9bc64daae4c84"/>
    <p:sldId xmlns:r="http://schemas.openxmlformats.org/officeDocument/2006/relationships" id="264" r:id="R094c0252821e45b9"/>
    <p:sldId xmlns:r="http://schemas.openxmlformats.org/officeDocument/2006/relationships" id="265" r:id="R6ab4d1e9bc7843de"/>
    <p:sldId xmlns:r="http://schemas.openxmlformats.org/officeDocument/2006/relationships" id="266" r:id="R1f58fd0d88a84549"/>
    <p:sldId xmlns:r="http://schemas.openxmlformats.org/officeDocument/2006/relationships" id="267" r:id="R113e2c83a40440ff"/>
    <p:sldId xmlns:r="http://schemas.openxmlformats.org/officeDocument/2006/relationships" id="268" r:id="Ra067bd48895942d9"/>
    <p:sldId xmlns:r="http://schemas.openxmlformats.org/officeDocument/2006/relationships" id="269" r:id="R6473e75d04534857"/>
    <p:sldId xmlns:r="http://schemas.openxmlformats.org/officeDocument/2006/relationships" id="270" r:id="Re2b466f87b1240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d8dd13341344ff" /><Relationship Type="http://schemas.openxmlformats.org/officeDocument/2006/relationships/slideMaster" Target="/ppt/slideMasters/slideMaster1.xml" Id="R40d2add9b17f4403" /><Relationship Type="http://schemas.openxmlformats.org/officeDocument/2006/relationships/notesMaster" Target="/ppt/notesMasters/notesMaster1.xml" Id="R62637ddec4c349b2" /><Relationship Type="http://schemas.openxmlformats.org/officeDocument/2006/relationships/presProps" Target="/ppt/presProps.xml" Id="R00fbc9edb7ed4e61" /><Relationship Type="http://schemas.openxmlformats.org/officeDocument/2006/relationships/viewProps" Target="/ppt/viewProps.xml" Id="R8f8db01fbdff4fbf" /><Relationship Type="http://schemas.openxmlformats.org/officeDocument/2006/relationships/tableStyles" Target="/ppt/tableStyles.xml" Id="R45e9f44ae87043a3" /><Relationship Type="http://schemas.openxmlformats.org/officeDocument/2006/relationships/slide" Target="/ppt/slides/slide1.xml" Id="R75da83d18766479e" /><Relationship Type="http://schemas.openxmlformats.org/officeDocument/2006/relationships/slide" Target="/ppt/slides/slide2.xml" Id="Rdc1a7e29eda84561" /><Relationship Type="http://schemas.openxmlformats.org/officeDocument/2006/relationships/slide" Target="/ppt/slides/slide3.xml" Id="Raa02731fc9bc449f" /><Relationship Type="http://schemas.openxmlformats.org/officeDocument/2006/relationships/slide" Target="/ppt/slides/slide4.xml" Id="Rdf6b0b85565a45ba" /><Relationship Type="http://schemas.openxmlformats.org/officeDocument/2006/relationships/slide" Target="/ppt/slides/slide5.xml" Id="Rdbb0ed46d7834540" /><Relationship Type="http://schemas.openxmlformats.org/officeDocument/2006/relationships/slide" Target="/ppt/slides/slide6.xml" Id="Rbb63bba5968b440c" /><Relationship Type="http://schemas.openxmlformats.org/officeDocument/2006/relationships/slide" Target="/ppt/slides/slide7.xml" Id="R0630f967c0a5485d" /><Relationship Type="http://schemas.openxmlformats.org/officeDocument/2006/relationships/slide" Target="/ppt/slides/slide8.xml" Id="Rb5b9bc64daae4c84" /><Relationship Type="http://schemas.openxmlformats.org/officeDocument/2006/relationships/slide" Target="/ppt/slides/slide9.xml" Id="R094c0252821e45b9" /><Relationship Type="http://schemas.openxmlformats.org/officeDocument/2006/relationships/slide" Target="/ppt/slides/slide10.xml" Id="R6ab4d1e9bc7843de" /><Relationship Type="http://schemas.openxmlformats.org/officeDocument/2006/relationships/slide" Target="/ppt/slides/slide11.xml" Id="R1f58fd0d88a84549" /><Relationship Type="http://schemas.openxmlformats.org/officeDocument/2006/relationships/slide" Target="/ppt/slides/slide12.xml" Id="R113e2c83a40440ff" /><Relationship Type="http://schemas.openxmlformats.org/officeDocument/2006/relationships/slide" Target="/ppt/slides/slide13.xml" Id="Ra067bd48895942d9" /><Relationship Type="http://schemas.openxmlformats.org/officeDocument/2006/relationships/slide" Target="/ppt/slides/slide14.xml" Id="R6473e75d04534857" /><Relationship Type="http://schemas.openxmlformats.org/officeDocument/2006/relationships/slide" Target="/ppt/slides/slide15.xml" Id="Re2b466f87b1240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57cd96e80f43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6a15cc947c42b5" /><Relationship Type="http://schemas.openxmlformats.org/officeDocument/2006/relationships/notesMaster" Target="/ppt/notesMasters/notesMaster1.xml" Id="R85047b6c6b5b4b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c4d5f9818048ca" /><Relationship Type="http://schemas.openxmlformats.org/officeDocument/2006/relationships/notesMaster" Target="/ppt/notesMasters/notesMaster1.xml" Id="R8034a91136b34f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ec08ea65d7419f" /><Relationship Type="http://schemas.openxmlformats.org/officeDocument/2006/relationships/notesMaster" Target="/ppt/notesMasters/notesMaster1.xml" Id="Rff4c933b0c4349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7327412807433e" /><Relationship Type="http://schemas.openxmlformats.org/officeDocument/2006/relationships/notesMaster" Target="/ppt/notesMasters/notesMaster1.xml" Id="R9ae5150e422340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077dec54ff4079" /><Relationship Type="http://schemas.openxmlformats.org/officeDocument/2006/relationships/notesMaster" Target="/ppt/notesMasters/notesMaster1.xml" Id="R88c019affbd14c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e44498c3af4514" /><Relationship Type="http://schemas.openxmlformats.org/officeDocument/2006/relationships/notesMaster" Target="/ppt/notesMasters/notesMaster1.xml" Id="R6e20f6b58f0041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417915323940ce" /><Relationship Type="http://schemas.openxmlformats.org/officeDocument/2006/relationships/notesMaster" Target="/ppt/notesMasters/notesMaster1.xml" Id="Rce33580e0383478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64e43e77a443a0" /><Relationship Type="http://schemas.openxmlformats.org/officeDocument/2006/relationships/notesMaster" Target="/ppt/notesMasters/notesMaster1.xml" Id="R69bd3f539e0645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727bfafb294e04" /><Relationship Type="http://schemas.openxmlformats.org/officeDocument/2006/relationships/notesMaster" Target="/ppt/notesMasters/notesMaster1.xml" Id="Rf0d0c11163f64ee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7d510036f064638" /><Relationship Type="http://schemas.openxmlformats.org/officeDocument/2006/relationships/notesMaster" Target="/ppt/notesMasters/notesMaster1.xml" Id="R5eae551fabd748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ad01673f4cf41d4" /><Relationship Type="http://schemas.openxmlformats.org/officeDocument/2006/relationships/notesMaster" Target="/ppt/notesMasters/notesMaster1.xml" Id="Raf33cf67aa7b4ef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77e10a5f344076" /><Relationship Type="http://schemas.openxmlformats.org/officeDocument/2006/relationships/notesMaster" Target="/ppt/notesMasters/notesMaster1.xml" Id="R05c0bfc0c4df4af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30fabd9bfaa4f3a" /><Relationship Type="http://schemas.openxmlformats.org/officeDocument/2006/relationships/notesMaster" Target="/ppt/notesMasters/notesMaster1.xml" Id="Rb1282829c18947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0091163b60439f" /><Relationship Type="http://schemas.openxmlformats.org/officeDocument/2006/relationships/notesMaster" Target="/ppt/notesMasters/notesMaster1.xml" Id="R1b7d84e6261e48c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04253c1882443b5" /><Relationship Type="http://schemas.openxmlformats.org/officeDocument/2006/relationships/notesMaster" Target="/ppt/notesMasters/notesMaster1.xml" Id="R41f264c5ae9743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Apresentar o tema e contextualizar o FitPro como solução acadêmica aplicada ao Studio Bio Fitness. Fonte interna: TCC revisado, capa e introdução.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primeiro o problema operacional e depois a resposta do projeto. Fonte interna: TCC revisado, Introdução e Objetivos.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Ressaltar que o levantamento foi iterativo, não uma pesquisa estatística generalizável. Fonte interna: TCC revisado, Metodologia, seções 4.1 a 4.3.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Apresentar rapidamente os quatro perfis e destacar que o roteamento não é apenas visual: há checagem central de sessão e papel. Fonte interna: TCC revisado, requisitos RF01 e seção 6.1.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Explique que o Supabase não elimina a responsabilidade de segurança: RLS e funções de servidor foram adicionadas deliberadamente. Fonte interna: TCC revisado, Fundamentação 3.3 a 3.7 e seção 6.9.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Mostre que as telas já correspondem aos quatro perfis descritos na documentação. Fonte interna: capturas locais do FitPro e TCC revisado, seções 6.1 e 6.2.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esta lâmina para navegar pelos três perfis mais operacionais. Fonte interna: imagens 14, 16 e 18 extraídas da documentação do projeto.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Explicação simples: a mesma regra protege todos os painéis e reduz duplicação. Fonte: src/components/shared/ProtectedRoute.tsx.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Relacionar o trecho ao ganho prático: continuidade do registro de frequência e dos treinos. Fonte: src/store/dataStore.ts e função SQL salvar_ficha_treino.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Deixar claro que as migrações estabelecem a base de segurança, mas o ambiente implantado ainda precisa de testes específicos de autorização. Fontes: supabase/functions/create-member/index.ts e supabase/migrations/202609..._isolate_academies_and_sync_payments.sql.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Resultados verificados localmente em 22/09/2026: 9 arquivos de teste, 26 testes aprovados, typecheck e build aprovados; 21 migrações e 3 Edge Functions no repositório.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Este é um registro visual de mensagens desta conversa. A recomendação do Supabase foi condicionada a controles de segurança e não foi tratada como verdade autônoma. Fonte interna: registro atual da conversa e TCC revisado, seção 4.4.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Não apresentar a imagem como print histórico. Ela foi produzida como reconstrução didática porque a conversa original completa não estava disponível. Fonte interna: TCC revisado, Figura 24 e seção 6.10.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Distinguir funcionalidades futuras de limitações de produção. Alertas e PIX continuam no backlog; segurança implantada, recuperação e carga exigem testes adicionais. Fonte interna: TCC revisado, Discussão, Conclusão e trabalhos futuros.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Encerrar retomando a contribuição: centralização dos fluxos, persistência dos treinos e evolução concreta da segurança. Abrir para perguntas.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98699d528f4e6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1127e2447d4a5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4988399974a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6dd733b5a643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8797dfbe049e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d70414fbe9441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05533a49f4e4e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8476eef9984c0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2ff01926b54e6e" /><Relationship Type="http://schemas.openxmlformats.org/officeDocument/2006/relationships/image" Target="/ppt/media/image.png" Id="R1fecf8a6a21e49f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1793d972e46b5" /><Relationship Type="http://schemas.openxmlformats.org/officeDocument/2006/relationships/image" Target="/ppt/media/image2.png" Id="R891a90b3c88f4813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1fecf8a6a21e49f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891a90b3c88f481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ad92146b0024892" /><Relationship Type="http://schemas.openxmlformats.org/officeDocument/2006/relationships/slideLayout" Target="/ppt/slideLayouts/slideLayout1.xml" Id="Rff55046f99c2496c" /><Relationship Type="http://schemas.openxmlformats.org/officeDocument/2006/relationships/slideLayout" Target="/ppt/slideLayouts/slideLayout2.xml" Id="R50e321e3bd804088" /><Relationship Type="http://schemas.openxmlformats.org/officeDocument/2006/relationships/slideLayout" Target="/ppt/slideLayouts/slideLayout3.xml" Id="R3709f6dfe02a48e5" /><Relationship Type="http://schemas.openxmlformats.org/officeDocument/2006/relationships/slideLayout" Target="/ppt/slideLayouts/slideLayout4.xml" Id="R952cce7b31724e43" /><Relationship Type="http://schemas.openxmlformats.org/officeDocument/2006/relationships/slideLayout" Target="/ppt/slideLayouts/slideLayout5.xml" Id="R6ab45275174b48db" /><Relationship Type="http://schemas.openxmlformats.org/officeDocument/2006/relationships/slideLayout" Target="/ppt/slideLayouts/slideLayout6.xml" Id="R88f7919926ed4189" /><Relationship Type="http://schemas.openxmlformats.org/officeDocument/2006/relationships/slideLayout" Target="/ppt/slideLayouts/slideLayout7.xml" Id="R303b234003254aef" /><Relationship Type="http://schemas.openxmlformats.org/officeDocument/2006/relationships/slideLayout" Target="/ppt/slideLayouts/slideLayout8.xml" Id="Rb3c6ac7c9f674769" /><Relationship Type="http://schemas.openxmlformats.org/officeDocument/2006/relationships/slideLayout" Target="/ppt/slideLayouts/slideLayout9.xml" Id="R21745932b2c5441f" /><Relationship Type="http://schemas.openxmlformats.org/officeDocument/2006/relationships/slideLayout" Target="/ppt/slideLayouts/slideLayout10.xml" Id="R8e5a9b68dcc141f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55046f99c2496c"/>
    <p:sldLayoutId xmlns:r="http://schemas.openxmlformats.org/officeDocument/2006/relationships" id="2147483650" r:id="R50e321e3bd804088"/>
    <p:sldLayoutId xmlns:r="http://schemas.openxmlformats.org/officeDocument/2006/relationships" id="2147483651" r:id="R3709f6dfe02a48e5"/>
    <p:sldLayoutId xmlns:r="http://schemas.openxmlformats.org/officeDocument/2006/relationships" id="2147483652" r:id="R952cce7b31724e43"/>
    <p:sldLayoutId xmlns:r="http://schemas.openxmlformats.org/officeDocument/2006/relationships" id="2147483653" r:id="R6ab45275174b48db"/>
    <p:sldLayoutId xmlns:r="http://schemas.openxmlformats.org/officeDocument/2006/relationships" id="2147483654" r:id="R88f7919926ed4189"/>
    <p:sldLayoutId xmlns:r="http://schemas.openxmlformats.org/officeDocument/2006/relationships" id="2147483655" r:id="R303b234003254aef"/>
    <p:sldLayoutId xmlns:r="http://schemas.openxmlformats.org/officeDocument/2006/relationships" id="2147483656" r:id="Rb3c6ac7c9f674769"/>
    <p:sldLayoutId xmlns:r="http://schemas.openxmlformats.org/officeDocument/2006/relationships" id="2147483657" r:id="R21745932b2c5441f"/>
    <p:sldLayoutId xmlns:r="http://schemas.openxmlformats.org/officeDocument/2006/relationships" id="2147483658" r:id="R8e5a9b68dcc141f4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dfb3e572824b81" /><Relationship Type="http://schemas.openxmlformats.org/officeDocument/2006/relationships/notesSlide" Target="/ppt/notesSlides/notesSlide1.xml" Id="R3f334eea134942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d834fa50f554c67" /><Relationship Type="http://schemas.openxmlformats.org/officeDocument/2006/relationships/notesSlide" Target="/ppt/notesSlides/notesSlide2.xml" Id="R39296855fed44a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eb4fd264b642b8" /><Relationship Type="http://schemas.openxmlformats.org/officeDocument/2006/relationships/notesSlide" Target="/ppt/notesSlides/notesSlide3.xml" Id="R2b2347eedde740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102ebb6e00f4103" /><Relationship Type="http://schemas.openxmlformats.org/officeDocument/2006/relationships/notesSlide" Target="/ppt/notesSlides/notesSlide4.xml" Id="Rb245d5b06a7b4b3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790a1a9cb124c76" /><Relationship Type="http://schemas.openxmlformats.org/officeDocument/2006/relationships/notesSlide" Target="/ppt/notesSlides/notesSlide5.xml" Id="R642ea7fa8ffe411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40dc6d9330424c" /><Relationship Type="http://schemas.openxmlformats.org/officeDocument/2006/relationships/image" Target="/ppt/media/image3.png" Id="R5fecdd518355406c" /><Relationship Type="http://schemas.openxmlformats.org/officeDocument/2006/relationships/image" Target="/ppt/media/image4.png" Id="Rc77c3058aeca4c0c" /><Relationship Type="http://schemas.openxmlformats.org/officeDocument/2006/relationships/notesSlide" Target="/ppt/notesSlides/notesSlide6.xml" Id="Rba912a2a933c40d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6e40c4ff4c84f36" /><Relationship Type="http://schemas.openxmlformats.org/officeDocument/2006/relationships/image" Target="/ppt/media/image5.png" Id="Re9f7a9637f144382" /><Relationship Type="http://schemas.openxmlformats.org/officeDocument/2006/relationships/image" Target="/ppt/media/image6.png" Id="R018f66d58cb742da" /><Relationship Type="http://schemas.openxmlformats.org/officeDocument/2006/relationships/image" Target="/ppt/media/image7.png" Id="Rb3a496a52fba449b" /><Relationship Type="http://schemas.openxmlformats.org/officeDocument/2006/relationships/notesSlide" Target="/ppt/notesSlides/notesSlide7.xml" Id="R1e5aa8ae71b845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f2ad712ffb4d88" /><Relationship Type="http://schemas.openxmlformats.org/officeDocument/2006/relationships/image" Target="/ppt/media/image8.png" Id="Ra2722a5a117d4a2a" /><Relationship Type="http://schemas.openxmlformats.org/officeDocument/2006/relationships/notesSlide" Target="/ppt/notesSlides/notesSlide8.xml" Id="Rd61ad58e1cf84f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6a782ac39a4946" /><Relationship Type="http://schemas.openxmlformats.org/officeDocument/2006/relationships/image" Target="/ppt/media/image9.png" Id="R791605cef4274952" /><Relationship Type="http://schemas.openxmlformats.org/officeDocument/2006/relationships/notesSlide" Target="/ppt/notesSlides/notesSlide9.xml" Id="R3c14d40f6bc744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f9ab372f304e3f" /><Relationship Type="http://schemas.openxmlformats.org/officeDocument/2006/relationships/image" Target="/ppt/media/image10.png" Id="Re96250b4a8624fe8" /><Relationship Type="http://schemas.openxmlformats.org/officeDocument/2006/relationships/image" Target="/ppt/media/image11.png" Id="R5b2ca9752f424321" /><Relationship Type="http://schemas.openxmlformats.org/officeDocument/2006/relationships/notesSlide" Target="/ppt/notesSlides/notesSlide10.xml" Id="R6b1e5586bb6340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8c25dd27884b3e" /><Relationship Type="http://schemas.openxmlformats.org/officeDocument/2006/relationships/notesSlide" Target="/ppt/notesSlides/notesSlide11.xml" Id="R3b1a3aba7c3d41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4dad6f87844f09" /><Relationship Type="http://schemas.openxmlformats.org/officeDocument/2006/relationships/image" Target="/ppt/media/image12.png" Id="R30d48f91ca794503" /><Relationship Type="http://schemas.openxmlformats.org/officeDocument/2006/relationships/notesSlide" Target="/ppt/notesSlides/notesSlide12.xml" Id="R68a0cc32878f4f6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81cba62fcb471c" /><Relationship Type="http://schemas.openxmlformats.org/officeDocument/2006/relationships/image" Target="/ppt/media/image13.png" Id="R8c3aeda4b1754255" /><Relationship Type="http://schemas.openxmlformats.org/officeDocument/2006/relationships/notesSlide" Target="/ppt/notesSlides/notesSlide13.xml" Id="Rcaf266107c9846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b868afaf54428e" /><Relationship Type="http://schemas.openxmlformats.org/officeDocument/2006/relationships/notesSlide" Target="/ppt/notesSlides/notesSlide14.xml" Id="Rbf8ceeb6542542e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b3308449204191" /><Relationship Type="http://schemas.openxmlformats.org/officeDocument/2006/relationships/notesSlide" Target="/ppt/notesSlides/notesSlide15.xml" Id="R1a0df9adcdaf4f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8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6998E5-F04C-4907-8C77-DCDBD206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48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rPr>
              <a:t>FEMA • ANÁLISE E DESENVOLVIMENTO DE SISTEMAS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4061E-2BEC-4609-AB62-0F404E408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8580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72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37914-A651-421F-9442-2E882A96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409700"/>
            <a:ext cx="8096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435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FitPro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D2C82C-5335-4D43-BA0D-4F7054E9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209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DDE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DDEBFA"/>
                </a:solidFill>
                <a:latin typeface="Helvetica Neue"/>
                <a:ea typeface="Helvetica Neue"/>
                <a:cs typeface="Helvetica Neue"/>
              </a:rPr>
              <a:t>Sistema web para gestão de pequenas academias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F6BCE3-9D69-4463-A1B9-25B44B71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0289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FB9E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350" b="1">
                <a:solidFill>
                  <a:srgbClr val="8FB9E8"/>
                </a:solidFill>
                <a:latin typeface="Helvetica Neue Medium"/>
                <a:ea typeface="Helvetica Neue Medium"/>
                <a:cs typeface="Helvetica Neue Medium"/>
              </a:rPr>
              <a:t>Trabalho de Conclusão de Curso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04C42-A73C-4F7C-A97A-23C7922B6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762500"/>
            <a:ext cx="619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Rafael Bavaresco Messias Moura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Orientador: Prof. Esp. Célio Desiró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3747D0-FA6D-476D-8145-F1B15C27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rPr>
              <a:t>Assis/SP •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AA34E-23E6-47AA-AD8C-6C8E2F6E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257175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D315C"/>
          </a:solidFill>
          <a:ln xmlns:a="http://schemas.openxmlformats.org/drawingml/2006/main" w="9525">
            <a:solidFill>
              <a:srgbClr val="4F7299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B8805-49C8-428D-9924-5DF2869F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638675"/>
            <a:ext cx="21526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Gestão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+ treino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+ segurança</a:t>
            </a:r>
          </a:p>
        </p:txBody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039918-BE12-401C-A634-5C3220DBE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CBED95-59D6-43EB-8662-FAACF262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Por que o FitPro foi desenvolvido?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8EF0E-99F1-481A-9F9A-E89335D5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Centralizar a operação sem esconder os requisitos de segurança.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6B331-D390-43FC-88DA-9A875972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21E783-A064-4289-9A1A-96A68FE6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634572-4E14-4FD1-8B26-B8B3FD08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B3007C-76FE-411C-B301-561FC80C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19250"/>
            <a:ext cx="347662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1095B-6BE0-4A8A-A797-3567A9A7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90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rPr>
              <a:t>Problema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0BEFC4-83EB-47F0-8790-CCEA8441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71700"/>
            <a:ext cx="309562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Cadastros, frequência, treinos e controles financeiros estavam distribuídos entre papéis, planilhas e mensagens.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C75222-2816-49DD-8669-481C4B8C6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19250"/>
            <a:ext cx="347662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A0176-BCB7-4106-B01E-4156AB0C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790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Objetivo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E661B5-82D3-44D6-883A-425F31556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71700"/>
            <a:ext cx="309562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Reunir os fluxos principais em uma aplicação web responsiva para administração, professor, aluno e proprietário.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AC43B9-F0E7-4300-911C-67F21EDC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3476625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3702E5-6450-4265-87AC-10AB53C3D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90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rPr>
              <a:t>Resultado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0B59F1-35DC-49D7-970F-DDFAD025C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71700"/>
            <a:ext cx="3095625" cy="2457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Uma base funcional em React e Supabase, com persistência, autenticação, isolamento por academia e validação técnica.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6E1FE3-0C44-4463-A6EE-12023CF6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06680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  <p:txBody>
          <a:bodyPr xmlns:a="http://schemas.openxmlformats.org/drawingml/2006/main" anchor="ctr">
            <a:normAutofit fontScale="96129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Questão central: como integrar a gestão da academia e preparar a solução para evoluir com segurança?</a:t>
            </a:r>
          </a:p>
        </p:txBody>
      </p:sp>
    </p:spTree>
    <p:extLst>
      <p:ext uri="{BB962C8B-B14F-4D97-AF65-F5344CB8AC3E}">
        <p14:creationId xmlns:p14="http://schemas.microsoft.com/office/powerpoint/2010/main" val="20362937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A5FAE3E-7CEF-4709-AFFB-15B12C65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METODOLOGIA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530F8-5CE8-425B-94F4-3E417D01B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Desenvolvimento incremental e verificável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FEF966-A205-4973-A970-10576EE2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Cada ciclo transformou necessidades observadas em uma entrega revisada.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614C1F-E50A-4DFA-8961-C2D72AD1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8D5B78-AD5D-4749-9609-D7E36391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8C82FA-15BD-4CE1-9077-DE2B63CE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200110-2841-4C25-BAE8-F5B2CFB1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33550"/>
            <a:ext cx="742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0BD522-C068-4AAE-8DF5-5745C4EA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0300"/>
            <a:ext cx="2524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2EC22-9308-493A-A6FB-2D9B4C88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Observar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2FB627-956D-471D-BE6F-384BBF68C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2143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Rotina do Studio Bio Fitness e dificuldades reais.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77AA0F-ADAF-4687-985E-42A36D6C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238500"/>
            <a:ext cx="304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C423A1-5EBF-48B4-95C1-DB58216B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33550"/>
            <a:ext cx="742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9A19F-CAAE-4700-8804-184E923B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400300"/>
            <a:ext cx="2524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84AB56-4130-4471-B944-8F2C2D97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Priorizar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41B989-C6F5-4BB8-A75F-8BA805D0E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2750"/>
            <a:ext cx="2143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Requisitos de maior impacto no uso diário.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C8DB4B-7A1B-4957-A576-D48DF410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38500"/>
            <a:ext cx="304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8CFF94-D774-4926-8386-0FACD2CB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742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22E0D2-FD4B-42D8-AE61-AFBF2010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00300"/>
            <a:ext cx="2524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B29A6-1B30-4B0E-B112-D7253A7A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717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Implementar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8ECDCC-D311-4301-87D4-6A754801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2143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Interface, persistência e regras de acesso.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791D2-A0E3-4DB2-9FDC-570ED7190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238500"/>
            <a:ext cx="3048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4E0DFB-9662-4AD8-8A39-E572EA59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33550"/>
            <a:ext cx="74295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8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3DC4C8-5C36-429C-AC18-99BF470F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00300"/>
            <a:ext cx="252412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927EA3-9ADC-4C7D-ABAD-0B0FC5E4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571750"/>
            <a:ext cx="2143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Validar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AB0130-9F60-4962-8DD2-5C77703A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952750"/>
            <a:ext cx="21431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Código, testes, tipos, build e documentação.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24F1AC-B35C-4F3A-A1FA-90E99E31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Natureza aplicada e exploratória • abordagem qualitativa • escopo acadêmico</a:t>
            </a:r>
          </a:p>
        </p:txBody>
      </p:sp>
    </p:spTree>
    <p:extLst>
      <p:ext uri="{BB962C8B-B14F-4D97-AF65-F5344CB8AC3E}">
        <p14:creationId xmlns:p14="http://schemas.microsoft.com/office/powerpoint/2010/main" val="2036293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2D235-C16E-4707-BA65-E3EF7E67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ESCOPO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CDB94-8E54-41BB-9D36-89A6501E6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Quatro perfis, quatro experiências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1E704E-9A7F-4C50-BBEE-76D41C23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Cada papel recebe rotas e funções compatíveis com sua responsabilidade.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90953-8BF8-407A-A7FA-9607179B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253D5-E462-46CB-B4D9-51B2365F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95C65-BEA4-44E1-8F2B-62EF95E0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709102-1533-4017-8CBC-9C0C10DC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14500"/>
            <a:ext cx="2524125" cy="333375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9206A-965B-42E2-8366-4409DF5B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47875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B3668"/>
          </a:solidFill>
          <a:ln xmlns:a="http://schemas.openxmlformats.org/drawingml/2006/main" w="9525">
            <a:solidFill>
              <a:srgbClr val="0B3668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1A7DD-7305-43B4-974E-95571D2F6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Proprietário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89F3F-62D5-45E5-BA33-4FD0013FB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7125"/>
            <a:ext cx="2066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Academias e responsáveis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08FD2B-2B23-48E9-8C95-1EF28F72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14500"/>
            <a:ext cx="2524125" cy="333375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7FFB5-6B81-45FF-A493-81E79871E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047875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0F8A5F"/>
          </a:solidFill>
          <a:ln xmlns:a="http://schemas.openxmlformats.org/drawingml/2006/main" w="9525">
            <a:solidFill>
              <a:srgbClr val="0F8A5F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EA8AAC-D0F5-4DF4-A6BE-06BC9992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432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Administração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C85A3-C40A-4990-B24A-6957D40E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667125"/>
            <a:ext cx="2066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Cadastros, finanças e relatórios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759C62-56BB-44B6-86E8-8DF08789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524125" cy="333375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003A8-FE62-4D65-8AF7-6036A80B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47875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1F788-1280-4743-8228-01D9988D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432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Professor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958B6D-7229-4930-BBC6-65C9C5C8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67125"/>
            <a:ext cx="2066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Agenda, chamada e fichas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BBDEDD-3116-42CB-BD05-8827F68E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14500"/>
            <a:ext cx="2524125" cy="3333750"/>
          </a:xfrm>
          <a:prstGeom xmlns:a="http://schemas.openxmlformats.org/drawingml/2006/main" prst="roundRect">
            <a:avLst>
              <a:gd name="adj" fmla="val 4528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80A12-C92E-4CBF-8087-EC9479B0D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047875"/>
            <a:ext cx="8382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A33A3A"/>
          </a:solidFill>
          <a:ln xmlns:a="http://schemas.openxmlformats.org/drawingml/2006/main" w="9525">
            <a:solidFill>
              <a:srgbClr val="A33A3A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7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209EFB-E57F-42A7-9652-B1C7F3296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2143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Aluno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1D8291-A7C1-4A25-830A-ED3F05C5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667125"/>
            <a:ext cx="20669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Treino, peso e mensalidade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236450-703C-47FD-B611-844A3496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A proteção de rotas verifica sessão, papel e pendência de primeiro acesso.</a:t>
            </a:r>
          </a:p>
        </p:txBody>
      </p:sp>
    </p:spTree>
    <p:extLst>
      <p:ext uri="{BB962C8B-B14F-4D97-AF65-F5344CB8AC3E}">
        <p14:creationId xmlns:p14="http://schemas.microsoft.com/office/powerpoint/2010/main" val="203629373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7673312-C3AD-4BB1-AD7E-7906E3AA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E1B10-729F-4434-95F5-0C6284A7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Como a solução foi organizada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2B994D-6CB8-4B87-A85E-94A7651A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Interface, estado, autenticação e dados em camadas explícitas.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9967A6-9012-4E8F-8639-1011D00B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BD9281-48C3-4280-93FF-1E4E18F1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1497D-BA33-4CCD-B049-2227FB1F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22F2A-253F-4848-A0C1-62EBBEDB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143125"/>
            <a:ext cx="23812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EDF3E9-6168-4EC2-B453-F0D44A78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145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React + TypeScript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674D7B-6C1B-4A2D-8488-1A1C3A71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95575"/>
            <a:ext cx="2000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Interface e rotas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8C1BFF-2E98-4E1B-90F0-293DE2A0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90270E-9A25-4F73-B6F4-B70D14CC0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23812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1ACF43-2580-47BC-96E0-4D3A4336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145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Zustand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F0DF5-B90C-4D79-A270-D0514301E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95575"/>
            <a:ext cx="2000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Sessão e estado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8B00A5-1857-415E-A7AC-230C3E70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813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5CE94F-C0B5-4194-A67F-60E9E623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43125"/>
            <a:ext cx="23812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3318F2-0642-47EF-BBD5-3CBD5017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145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Supabase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A1932-B811-4B6C-99DB-E07AA30F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95575"/>
            <a:ext cx="2000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Auth, Data API e funções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01E28F-6E91-4245-8D38-E14ECF02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81300"/>
            <a:ext cx="3810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5CD4"/>
          </a:solidFill>
          <a:ln xmlns:a="http://schemas.openxmlformats.org/drawingml/2006/main" w="9525">
            <a:solidFill>
              <a:srgbClr val="175C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78E0C6-D258-4DD6-810B-69648436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2381250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B89C9B-737A-4C0C-BCD3-A6A416F6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145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PostgreSQL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409B7B-AE84-4805-A8E7-B5EC7DAFB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95575"/>
            <a:ext cx="20002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Dados, SQL e RLS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4F88A9-0F9A-44C9-ACD3-B0B74518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81500"/>
            <a:ext cx="3429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034A7-A585-48DF-B972-B97A3832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529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rPr>
              <a:t>Edge Functions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56D3DD-5895-44C8-86C6-139285D6E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339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Criação de contas e redefinição de senhas fora do navegador.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289F9F-DCA1-46E6-BABD-53B5BFAAD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81500"/>
            <a:ext cx="3429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D17888-D7D4-47E8-B8C1-82C90199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529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Isolamento por academia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5EEE1B-7442-468E-8793-4FAAD1247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339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academy_id + políticas RLS limitam leitura e escrita à unidade da sessão.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87D2AF-0C4F-401F-872B-056542007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10000"/>
            <a:ext cx="762000" cy="4381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629373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16EFF5-E95A-4A56-A52C-01FD3645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4A6EB-826A-448A-A456-4A455302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A entrada do sistema hoje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BB62F3-B457-4C3B-AAC0-8F1F514A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Seleção de perfil e autenticação com CPF e senha.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59A552-C021-49C9-9771-81EF43E2F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438E8-CF54-4CA3-AA01-E7E9D943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B9F65-9CE7-4EC4-9352-6C259088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FC3CA-DDE6-4BA6-8240-63BD9890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5524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ecdd518355406c"/>
          <a:stretch xmlns:a="http://schemas.openxmlformats.org/drawingml/2006/main"/>
        </p:blipFill>
        <p:spPr>
          <a:xfrm xmlns:a="http://schemas.openxmlformats.org/drawingml/2006/main">
            <a:off x="476250" y="1666875"/>
            <a:ext cx="5334000" cy="333375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2A483-8B19-41DA-AECF-390A7DAC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524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c3058aeca4c0c"/>
          <a:stretch xmlns:a="http://schemas.openxmlformats.org/drawingml/2006/main"/>
        </p:blipFill>
        <p:spPr>
          <a:xfrm xmlns:a="http://schemas.openxmlformats.org/drawingml/2006/main">
            <a:off x="6381750" y="1666875"/>
            <a:ext cx="5334000" cy="333375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DE892-4EEC-4E41-929A-29670652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2863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Quatro perfis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17EC6-7E31-427B-844B-E897A183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863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Sessão + primeiro acesso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043773-39A5-4062-833E-2323A657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78167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O CPF é normalizado e convertido em um identificador técnico compatível com o Supabase Auth.</a:t>
            </a:r>
          </a:p>
        </p:txBody>
      </p:sp>
    </p:spTree>
    <p:extLst>
      <p:ext uri="{BB962C8B-B14F-4D97-AF65-F5344CB8AC3E}">
        <p14:creationId xmlns:p14="http://schemas.microsoft.com/office/powerpoint/2010/main" val="20362937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5BB63-3DA1-477C-9693-FC38B8593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PRODUTO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67E2A-4AF2-48CE-B56A-A41A5E3B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Três fluxos centrais em funcionamento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D2FFCC-184E-4A79-AAD1-E7086C6A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Gestão, rotina do professor e acompanhamento do aluno.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9DF78-8F5B-445D-9DF6-F729FADF3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2313A0-D6D6-49D5-9E45-9F62AA97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BD7067-915E-4D7D-BF7F-F8318595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91DB58-311D-4A25-ABB3-2CB9C1D4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524000"/>
            <a:ext cx="3429000" cy="433387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f7a9637f144382"/>
          <a:stretch xmlns:a="http://schemas.openxmlformats.org/drawingml/2006/main"/>
        </p:blipFill>
        <p:spPr>
          <a:xfrm xmlns:a="http://schemas.openxmlformats.org/drawingml/2006/main">
            <a:off x="1106037" y="1676400"/>
            <a:ext cx="1978927" cy="2238375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3CA6A-F007-4E3A-BA1F-2AE58A3E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481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Administração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76562-6275-4FC2-B459-884C5AEF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77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Cadastros, finanças, agenda, relatórios e planos.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07DA4-4406-43B5-B546-17178955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524000"/>
            <a:ext cx="3429000" cy="433387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f66d58cb742da"/>
          <a:stretch xmlns:a="http://schemas.openxmlformats.org/drawingml/2006/main"/>
        </p:blipFill>
        <p:spPr>
          <a:xfrm xmlns:a="http://schemas.openxmlformats.org/drawingml/2006/main">
            <a:off x="4343400" y="2211917"/>
            <a:ext cx="3124200" cy="1167341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D428E9-F932-44DA-8E6E-C0C46190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481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Professor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A285C-5CD0-4C2C-A19B-F4297F1A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577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Turmas do dia, chamada persistida e criação de fichas.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10CE39-2A5F-4463-9E28-0AC1E25E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24000"/>
            <a:ext cx="3429000" cy="4333875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a496a52fba449b"/>
          <a:stretch xmlns:a="http://schemas.openxmlformats.org/drawingml/2006/main"/>
        </p:blipFill>
        <p:spPr>
          <a:xfrm xmlns:a="http://schemas.openxmlformats.org/drawingml/2006/main">
            <a:off x="8153400" y="2109420"/>
            <a:ext cx="3124200" cy="1372336"/>
          </a:xfrm>
          <a:prstGeom xmlns:a="http://schemas.openxmlformats.org/drawingml/2006/main" prst="roundRect">
            <a:avLst>
              <a:gd name="adj" fmla="val 3404"/>
            </a:avLst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8A036-560F-49AC-9103-3AFB9F19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48125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Aluno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4C6698-E988-4816-BFA9-7C2B2CC7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57700"/>
            <a:ext cx="304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Treino, peso, séries realizadas e mensalidade.</a:t>
            </a:r>
          </a:p>
        </p:txBody>
      </p:sp>
    </p:spTree>
    <p:extLst>
      <p:ext uri="{BB962C8B-B14F-4D97-AF65-F5344CB8AC3E}">
        <p14:creationId xmlns:p14="http://schemas.microsoft.com/office/powerpoint/2010/main" val="20362937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58728-0A38-48F9-A6E3-FC9D1F144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CÓDIGO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45AD3-3E16-493E-B7CC-D2F6EA36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Proteção das rotas por perfil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D9685F-FEAB-4AF8-B980-3B839263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Uma verificação central decide quem pode acessar cada painel.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E4EECB-537D-4ED8-B5E9-F4B9D2376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21193E-05DC-4EB0-A524-B8CFCE4CC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96173-9FB6-4D87-A3CE-FB3549267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F3F555-A873-4213-A2FC-044BAA3DB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76375"/>
            <a:ext cx="76200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8284F"/>
          </a:solidFill>
          <a:ln xmlns:a="http://schemas.openxmlformats.org/drawingml/2006/main" w="9525">
            <a:solidFill>
              <a:srgbClr val="08284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722a5a117d4a2a"/>
          <a:stretch xmlns:a="http://schemas.openxmlformats.org/drawingml/2006/main"/>
        </p:blipFill>
        <p:spPr>
          <a:xfrm xmlns:a="http://schemas.openxmlformats.org/drawingml/2006/main">
            <a:off x="533400" y="1571625"/>
            <a:ext cx="7315200" cy="4572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94730C-C394-43A4-A024-13F9F858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76375"/>
            <a:ext cx="3476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148A3-58CC-40DC-AB8E-089EFE57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47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1. Confere a sessão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DD6FE-D3A9-4B96-9E71-AFC694DF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28825"/>
            <a:ext cx="309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Se não há usuário autenticado, o acesso é redirecionado para o login.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6B144-C8F8-4973-BB82-7AAF98CA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43250"/>
            <a:ext cx="3476625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BE578D-72BA-45F2-B318-69EBC20A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1470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2. Confere o papel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3759D1-F78D-4402-BFB2-7A2F612C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95700"/>
            <a:ext cx="3095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O perfil solicitado precisa coincidir com o papel carregado na sessão.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ADCB7C-CA56-4B20-BC1F-D6D9660C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0125"/>
            <a:ext cx="3476625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DC12C-D409-474D-90BD-671F6904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8157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42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3. Trata o primeiro acesso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55D32C-3B27-4366-89A2-01A1B442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62575"/>
            <a:ext cx="3095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Contas temporárias são enviadas para a troca de senha antes do uso normal.</a:t>
            </a:r>
          </a:p>
        </p:txBody>
      </p:sp>
    </p:spTree>
    <p:extLst>
      <p:ext uri="{BB962C8B-B14F-4D97-AF65-F5344CB8AC3E}">
        <p14:creationId xmlns:p14="http://schemas.microsoft.com/office/powerpoint/2010/main" val="20362937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141226-2D9E-409C-AC55-D6459446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CÓDIGO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1DDA4-01F7-4667-A7F9-F3962271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Frequência e ficha de treino persistidas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E1D905-F10C-441B-91FC-A45FA505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 interface grava dados que podem ser recuperados em outra sessão.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A8B6E-1E36-4BD2-9BE8-E049CC6B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2C3F8-DC1D-43A2-9279-BDB0679D5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1887D4-9641-45DB-9BB7-DE44C9BB1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272B5-3B4E-4F31-A72D-9F59B6F6B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76375"/>
            <a:ext cx="762000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08284F"/>
          </a:solidFill>
          <a:ln xmlns:a="http://schemas.openxmlformats.org/drawingml/2006/main" w="9525">
            <a:solidFill>
              <a:srgbClr val="08284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605cef4274952"/>
          <a:stretch xmlns:a="http://schemas.openxmlformats.org/drawingml/2006/main"/>
        </p:blipFill>
        <p:spPr>
          <a:xfrm xmlns:a="http://schemas.openxmlformats.org/drawingml/2006/main">
            <a:off x="533400" y="1571625"/>
            <a:ext cx="7315200" cy="4572000"/>
          </a:xfrm>
          <a:prstGeom xmlns:a="http://schemas.openxmlformats.org/drawingml/2006/main" prst="roundRect">
            <a:avLst>
              <a:gd name="adj" fmla="val 1667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E8007E-81FD-486E-A2E9-5E1F8A8B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76375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17D21D-8F46-4083-B24E-5C9FA49D8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4782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rPr>
              <a:t>Chamada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2EF788-4B32-4EE0-8E79-C94ED2F9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28825"/>
            <a:ext cx="3095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 presença é salva por aluno, turma e data com operação de upsert.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4C8371-D24B-4B65-9CA8-96268797B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38500"/>
            <a:ext cx="3476625" cy="1476375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3EE3F-6571-4E2C-9764-5F1203F9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09950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Ficha de treino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C170D4-1939-464B-A234-C940EB93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90950"/>
            <a:ext cx="30956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Uma função SQL grava o treino e substitui os exercícios dentro de uma transação.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2B4630-BD4A-43A2-83B2-10B317ED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00625"/>
            <a:ext cx="3476625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3BFE6F-3410-4C75-8DD7-A2D79066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172075"/>
            <a:ext cx="3095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Benefício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7BC988-E249-455A-9E66-29474DBA2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53075"/>
            <a:ext cx="309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Os dados deixam de depender apenas da memória da tela.</a:t>
            </a:r>
          </a:p>
        </p:txBody>
      </p:sp>
    </p:spTree>
    <p:extLst>
      <p:ext uri="{BB962C8B-B14F-4D97-AF65-F5344CB8AC3E}">
        <p14:creationId xmlns:p14="http://schemas.microsoft.com/office/powerpoint/2010/main" val="20362937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62C8CE-454A-42B0-8268-33BFF2608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SEGURANÇA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4C141-978B-4027-84A3-382B2A6B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Controles no servidor e no banco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ECB32E-2ACF-4D97-A261-A1CCA52A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 interface deixou de ser a única barreira de acesso.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C6AD6B-C5F0-4D03-B969-6BDBD49F4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912AB-5BE6-4405-9075-81D38584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2BAC1F-C7A3-47E3-B55B-6483FD5A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37C512-4049-461A-AF6E-788F98F3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76375"/>
            <a:ext cx="5524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8284F"/>
          </a:solidFill>
          <a:ln xmlns:a="http://schemas.openxmlformats.org/drawingml/2006/main" w="9525">
            <a:solidFill>
              <a:srgbClr val="08284F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250b4a8624fe8"/>
          <a:stretch xmlns:a="http://schemas.openxmlformats.org/drawingml/2006/main"/>
        </p:blipFill>
        <p:spPr>
          <a:xfrm xmlns:a="http://schemas.openxmlformats.org/drawingml/2006/main">
            <a:off x="514350" y="1571625"/>
            <a:ext cx="5257800" cy="3286125"/>
          </a:xfrm>
          <a:prstGeom xmlns:a="http://schemas.openxmlformats.org/drawingml/2006/main" prst="roundRect">
            <a:avLst>
              <a:gd name="adj" fmla="val 2319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B298E5-D6EB-47E3-9F30-AFD6368A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76375"/>
            <a:ext cx="5524500" cy="3476625"/>
          </a:xfrm>
          <a:prstGeom xmlns:a="http://schemas.openxmlformats.org/drawingml/2006/main" prst="roundRect">
            <a:avLst>
              <a:gd name="adj" fmla="val 3288"/>
            </a:avLst>
          </a:prstGeom>
          <a:solidFill xmlns:a="http://schemas.openxmlformats.org/drawingml/2006/main">
            <a:srgbClr val="08284F"/>
          </a:solidFill>
          <a:ln xmlns:a="http://schemas.openxmlformats.org/drawingml/2006/main" w="9525">
            <a:solidFill>
              <a:srgbClr val="08284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2ca9752f424321"/>
          <a:stretch xmlns:a="http://schemas.openxmlformats.org/drawingml/2006/main"/>
        </p:blipFill>
        <p:spPr>
          <a:xfrm xmlns:a="http://schemas.openxmlformats.org/drawingml/2006/main">
            <a:off x="6419850" y="1571625"/>
            <a:ext cx="5257800" cy="3286125"/>
          </a:xfrm>
          <a:prstGeom xmlns:a="http://schemas.openxmlformats.org/drawingml/2006/main" prst="roundRect">
            <a:avLst>
              <a:gd name="adj" fmla="val 2319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C77046-CDCA-4E55-AC22-5DD91D7B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0958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rPr>
              <a:t>Operações privilegiadas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FFD4D-9143-482F-86E2-7F4F1CF2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095875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Isolamento por academia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BF97DF-58D5-4BEF-AECB-E9E1CC80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19750"/>
            <a:ext cx="102870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  <p:txBody>
          <a:bodyPr xmlns:a="http://schemas.openxmlformats.org/drawingml/2006/main" anchor="ctr">
            <a:normAutofit fontScale="95765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3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Edge Functions retiram a chave privilegiada do navegador; RLS restringe consultas e alterações com base na academia da sessão.</a:t>
            </a:r>
          </a:p>
        </p:txBody>
      </p:sp>
    </p:spTree>
    <p:extLst>
      <p:ext uri="{BB962C8B-B14F-4D97-AF65-F5344CB8AC3E}">
        <p14:creationId xmlns:p14="http://schemas.microsoft.com/office/powerpoint/2010/main" val="20362937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39B18-A169-4BE5-B861-5ECB6A42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VALIDAÇÃO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D0FC7B-6574-410A-8010-C5CD34C6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Evidências da versão analisada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644A02-5B57-4BA9-A599-20844CDA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Resultados obtidos diretamente no repositório do projeto.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3BA637-50C1-4689-BEF3-B9446574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AD06C-744C-4A7D-998B-84495467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A6689-CA95-4149-B3D4-FFE78E56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06157-5339-4D9C-A6E9-2385796C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62125"/>
            <a:ext cx="25241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0623B5-22C9-4EDA-B2B6-AD7FAC99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526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0339B-F37D-4EA7-A7BD-A0FF47D1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perfis de acesso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483159-E2BD-40D1-B62C-1F4E93DD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62125"/>
            <a:ext cx="25241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C1220D-F7D8-401F-BEAC-54986C416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B5E7A-D8A8-48B7-BB5E-A8383FDE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670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migrações SQL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1A944-F49A-4030-A010-C86DB2DB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2125"/>
            <a:ext cx="25241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0D21C-A436-47DF-B634-3C4BB5267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CC7CE-B0EC-497F-8104-7A7AAF82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Edge Functions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CA08F0-675B-4247-AA12-7D32B1A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762125"/>
            <a:ext cx="25241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DF5FE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C8FE07-3C88-4F04-91E8-ADB23B19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952625"/>
            <a:ext cx="21431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34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A0A968-7FE6-4990-9276-E04E712F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67000"/>
            <a:ext cx="214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20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testes aprovados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AC015E-9D41-4C8D-B94A-80172BB8C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57625"/>
            <a:ext cx="114300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F45168-8E84-43C0-88FB-7DD05BE15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rPr>
              <a:t>Testes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66F2A4-BA45-448D-A208-C5EFC3B16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9 arquivos / 26 aprovados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82E6B7-51F2-409B-99CF-CD419A3A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TypeScript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705839-AC43-4DBF-BC11-360BA29F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24375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checagem de tipos aprovada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8D56A6-60B6-40E4-A8BD-83B82F33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650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Produção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E357DA-9647-472C-A472-E43B9B1D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24375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build concluído com sucesso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7B066E-BAAF-4478-8390-06A3AB57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435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Atenção: isso aumenta a confiança, mas não substitui testes de autorização no ambiente implantado.</a:t>
            </a:r>
          </a:p>
        </p:txBody>
      </p:sp>
    </p:spTree>
    <p:extLst>
      <p:ext uri="{BB962C8B-B14F-4D97-AF65-F5344CB8AC3E}">
        <p14:creationId xmlns:p14="http://schemas.microsoft.com/office/powerpoint/2010/main" val="203629373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13B95-682C-48C5-B781-751B5E2F6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PROCESSO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F085CC-0A66-4E26-8809-71A0965F9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IA como apoio à decisão técnica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36D949-B960-4DFA-B905-7B3F1651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Registro atual da orientação sobre back-end e banco de dados.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EF02B-F370-4290-9DBE-3506D81A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D919A9-F3F8-4CDC-BC4F-9311F3ED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6F0C4E-5BE7-4A8F-ADBB-ABD1668DF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50BAA8-8067-4576-9F33-6D8BCAC5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28750"/>
            <a:ext cx="7239000" cy="4524375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48f91ca794503"/>
          <a:stretch xmlns:a="http://schemas.openxmlformats.org/drawingml/2006/main"/>
        </p:blipFill>
        <p:spPr>
          <a:xfrm xmlns:a="http://schemas.openxmlformats.org/drawingml/2006/main">
            <a:off x="533400" y="1524000"/>
            <a:ext cx="6934200" cy="4333875"/>
          </a:xfrm>
          <a:prstGeom xmlns:a="http://schemas.openxmlformats.org/drawingml/2006/main" prst="roundRect">
            <a:avLst>
              <a:gd name="adj" fmla="val 175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BFFD37-8FF6-4C85-BCFD-0CC125DEB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28750"/>
            <a:ext cx="3810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421CB-3F76-4C6F-BA0B-84DD634E7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0020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Por que Supabase?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28E509-01B2-4D6E-9401-0C1AFDD4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81200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Reúne autenticação, PostgreSQL, Data API e funções de servidor em uma única plataforma.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451704-5EDE-4475-95A3-F3F29826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0375"/>
            <a:ext cx="3810000" cy="133350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1756D-17C2-4106-B504-82AC94A5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718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rPr>
              <a:t>Condição importante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D82C5B-C862-47F1-9B47-74A5B321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52825"/>
            <a:ext cx="342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BaaS exige configuração explícita: RLS, isolamento por academia e operações privilegiadas no servidor.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45D25-2172-41BD-ADDF-58BB1630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72000"/>
            <a:ext cx="38100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E6AF0C-D5F6-4BDD-BD6C-943201A2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434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rPr>
              <a:t>Como foi usado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708DC1-A82A-460E-B14A-7EA9545C2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124450"/>
            <a:ext cx="3429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Sugestões foram confrontadas com o código, a documentação oficial e a execução do sistema.</a:t>
            </a:r>
          </a:p>
        </p:txBody>
      </p:sp>
    </p:spTree>
    <p:extLst>
      <p:ext uri="{BB962C8B-B14F-4D97-AF65-F5344CB8AC3E}">
        <p14:creationId xmlns:p14="http://schemas.microsoft.com/office/powerpoint/2010/main" val="20362937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3BB0A6-7AEB-4714-9757-554033BA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PROCESSO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B5950-BAA5-4FAE-9001-EAA8DF97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Dúvidas tratadas durante o desenvolvimento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A0FB36-0332-4B32-9231-055D447B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Exemplos reconstruídos para explicar o raciocínio — não são exportação do histórico original.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94A98-3323-4115-A008-95715FFF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64F8FE-D6D8-46BE-BA9D-139CD14C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44D23-2570-454F-91E4-392845C3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19039-DFFB-4D7D-B269-E295FD5A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476375"/>
            <a:ext cx="7239000" cy="4524375"/>
          </a:xfrm>
          <a:prstGeom xmlns:a="http://schemas.openxmlformats.org/drawingml/2006/main" prst="roundRect">
            <a:avLst>
              <a:gd name="adj" fmla="val 2526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3aeda4b1754255"/>
          <a:stretch xmlns:a="http://schemas.openxmlformats.org/drawingml/2006/main"/>
        </p:blipFill>
        <p:spPr>
          <a:xfrm xmlns:a="http://schemas.openxmlformats.org/drawingml/2006/main">
            <a:off x="533400" y="1571625"/>
            <a:ext cx="6934200" cy="4333875"/>
          </a:xfrm>
          <a:prstGeom xmlns:a="http://schemas.openxmlformats.org/drawingml/2006/main" prst="roundRect">
            <a:avLst>
              <a:gd name="adj" fmla="val 1758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CCB21-7A3E-447A-BB2A-98B708E5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76375"/>
            <a:ext cx="3810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A833D4-3E0E-4256-9180-BE1773D2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478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Separação de perfis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B6ADDD-A1C9-41C3-9E3E-A65346AB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28825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Criar rotas protegidas e redirecionar cada sessão para o painel correspondente.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B883B7-C22F-470D-895C-983CECA1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76625"/>
            <a:ext cx="38100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A74536-F735-42D5-9970-A89B70A3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480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0F8A5F"/>
                </a:solidFill>
                <a:latin typeface="Helvetica Neue Medium"/>
                <a:ea typeface="Helvetica Neue Medium"/>
                <a:cs typeface="Helvetica Neue Medium"/>
              </a:rPr>
              <a:t>Persistência segura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219720-E3FA-4FF3-BE1F-83AAE924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29075"/>
            <a:ext cx="342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Salvar a chamada no PostgreSQL e aplicar RLS para filtrar a academia vinculada à sessão.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EF2800-C0F9-4047-B73A-EC0ECB749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38100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F1C87B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rPr>
              <a:t>TRANSPARÊNCIA ACADÊMICA: reconstrução didática claramente identificada.</a:t>
            </a:r>
          </a:p>
        </p:txBody>
      </p:sp>
    </p:spTree>
    <p:extLst>
      <p:ext uri="{BB962C8B-B14F-4D97-AF65-F5344CB8AC3E}">
        <p14:creationId xmlns:p14="http://schemas.microsoft.com/office/powerpoint/2010/main" val="20362937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7F68E1-7D59-4EA2-B44B-7AB1E0FF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EVOLUÇÃO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E77BD-EC97-41BA-B54D-68581404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57200"/>
            <a:ext cx="1104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400" b="1">
                <a:solidFill>
                  <a:srgbClr val="142735"/>
                </a:solidFill>
                <a:latin typeface="Helvetica Neue Medium"/>
                <a:ea typeface="Helvetica Neue Medium"/>
                <a:cs typeface="Helvetica Neue Medium"/>
              </a:rPr>
              <a:t>O que ainda falta para produção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6CE5B6-3D0C-4B9B-AFD7-B3AE0920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9715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A solução acadêmica funciona, mas os próximos riscos precisam de validação dedicada.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DC8CC-4B9C-4380-82EF-557FC5D7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1143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39A49-1275-4AAA-A9D4-87AD2F88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1510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FITPRO • TCC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7C69D-2AA9-4035-B129-1AB76723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825" b="1">
                <a:solidFill>
                  <a:srgbClr val="7E91A8"/>
                </a:solidFill>
                <a:latin typeface="Helvetica Neue Medium"/>
                <a:ea typeface="Helvetica Neue Medium"/>
                <a:cs typeface="Helvetica Neue Medium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09901-5631-4C18-A153-E97A493A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666875"/>
            <a:ext cx="561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F1C87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9A291-7CAE-4347-9A61-60F9A5E5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764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53031-5102-4AFA-BF08-A3579F41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5737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Alertas automáticos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2EA02-581D-44B7-84B1-3DF3D487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52675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Persistir regras e avisos, como fichas não atualizadas.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16842B-5C7B-4060-81AE-15BFAFD9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561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9525">
            <a:solidFill>
              <a:srgbClr val="F1C87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145C30-EED8-400A-8BBA-F0DD6450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764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B36B00"/>
                </a:solidFill>
                <a:latin typeface="Helvetica Neue Medium"/>
                <a:ea typeface="Helvetica Neue Medium"/>
                <a:cs typeface="Helvetica Neue Medium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548BF-5564-4E56-A98F-486BB318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5737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PIX transacional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12414-DE3A-4E73-B0DD-A3D72AA4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52675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Integrar provedor, webhook e confirmação real do pagamento.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35EC09-A1E2-4BEE-9C61-54934E35C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857625"/>
            <a:ext cx="561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B9732-474B-4386-A915-ED807C87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671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4B16B9-5E31-484B-B2A3-18CE239F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481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Segurança implantada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BC200D-1F10-43AB-954A-A3B53F07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43425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Testar RLS, autorização e segregação entre academias no ambiente real.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60896-6EBA-4464-990B-D0FEA909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561975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9525">
            <a:solidFill>
              <a:srgbClr val="D7E4F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8860A2-5C29-4528-BB87-9D89AD4D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6717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00" b="1">
                <a:solidFill>
                  <a:srgbClr val="175CD4"/>
                </a:solidFill>
                <a:latin typeface="Helvetica Neue Medium"/>
                <a:ea typeface="Helvetica Neue Medium"/>
                <a:cs typeface="Helvetica Neue Medium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0A84CC-8400-42C4-9C7C-CA4535EF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048125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575" b="1">
                <a:solidFill>
                  <a:srgbClr val="08284F"/>
                </a:solidFill>
                <a:latin typeface="Helvetica Neue Medium"/>
                <a:ea typeface="Helvetica Neue Medium"/>
                <a:cs typeface="Helvetica Neue Medium"/>
              </a:rPr>
              <a:t>Operação e escala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B2BF75-B57A-4955-A3BC-8162772B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43425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536579"/>
                </a:solidFill>
                <a:latin typeface="Helvetica Neue"/>
                <a:ea typeface="Helvetica Neue"/>
                <a:cs typeface="Helvetica Neue"/>
              </a:rPr>
              <a:t>Validar recuperação de conta, carga, privacidade e resposta a incidentes.</a:t>
            </a:r>
          </a:p>
        </p:txBody>
      </p:sp>
    </p:spTree>
    <p:extLst>
      <p:ext uri="{BB962C8B-B14F-4D97-AF65-F5344CB8AC3E}">
        <p14:creationId xmlns:p14="http://schemas.microsoft.com/office/powerpoint/2010/main" val="20362937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28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C5B3B3-863A-4C68-817B-A73AE42B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81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rPr>
              <a:t>FITPRO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9CAAE0-7B3B-4739-95D2-2B2686D5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42950"/>
            <a:ext cx="1104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F72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D5FCE-3596-4A82-B27E-0E5C5D7A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666875"/>
            <a:ext cx="685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435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Obrigado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13FF2-CB2D-4E1C-9BF1-CED95F57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5336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DDEB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DDEBFA"/>
                </a:solidFill>
                <a:latin typeface="Helvetica Neue"/>
                <a:ea typeface="Helvetica Neue"/>
                <a:cs typeface="Helvetica Neue"/>
              </a:rPr>
              <a:t>Perguntas?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780463-485C-4771-9EBD-3CE12FBB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667125"/>
            <a:ext cx="781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 FitPro centraliza a gestão, registra o treino e cria uma base mais segura para a evolução do sistema.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969977-CFCC-4D14-A585-71F050284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62125"/>
            <a:ext cx="2571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0D315C"/>
          </a:solidFill>
          <a:ln xmlns:a="http://schemas.openxmlformats.org/drawingml/2006/main" w="9525">
            <a:solidFill>
              <a:srgbClr val="4F729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A6A76E-50AA-4764-B8DE-A7F895D2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143125"/>
            <a:ext cx="2095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1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4 perfis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1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26 testes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2100" b="1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</a:rPr>
              <a:t>1 plataforma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EF8C5D-2E17-4CAA-B371-9D910A45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61912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defRPr>
            </a:pPr>
            <a:r>
              <a:rPr sz="1050" b="1">
                <a:solidFill>
                  <a:srgbClr val="A8C7EA"/>
                </a:solidFill>
                <a:latin typeface="Helvetica Neue Medium"/>
                <a:ea typeface="Helvetica Neue Medium"/>
                <a:cs typeface="Helvetica Neue Medium"/>
              </a:rPr>
              <a:t>Rafael Bavaresco Messias Moura • 2026</a:t>
            </a:r>
          </a:p>
        </p:txBody>
      </p:sp>
    </p:spTree>
    <p:extLst>
      <p:ext uri="{BB962C8B-B14F-4D97-AF65-F5344CB8AC3E}">
        <p14:creationId xmlns:p14="http://schemas.microsoft.com/office/powerpoint/2010/main" val="32063284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2026-09-22T16:13:40.2310000Z</dcterms:created>
  <dcterms:modified xsi:type="dcterms:W3CDTF">2026-09-22T16:13:40.2310000Z</dcterms:modified>
</coreProperties>
</file>