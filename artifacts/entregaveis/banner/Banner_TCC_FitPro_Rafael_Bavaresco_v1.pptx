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febd3e5b50455c" /><Relationship Type="http://schemas.openxmlformats.org/officeDocument/2006/relationships/extended-properties" Target="/docProps/app.xml" Id="R0190d56bcfcc45c0" /><Relationship Type="http://schemas.openxmlformats.org/officeDocument/2006/relationships/officeDocument" Target="/ppt/presentation.xml" Id="Ra61e9f1b8ddb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496076d2e64e84"/>
  </p:sldMasterIdLst>
  <p:notesMasterIdLst>
    <p:notesMasterId xmlns:r="http://schemas.openxmlformats.org/officeDocument/2006/relationships" r:id="R042a4797d22e4e02"/>
  </p:notesMasterIdLst>
  <p:sldIdLst>
    <p:sldId xmlns:r="http://schemas.openxmlformats.org/officeDocument/2006/relationships" id="256" r:id="Rd482040e13d14305"/>
  </p:sldIdLst>
  <p:sldSz cx="32399288" cy="43200638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239d599df454a" /><Relationship Type="http://schemas.openxmlformats.org/officeDocument/2006/relationships/slideMaster" Target="/ppt/slideMasters/slideMaster1.xml" Id="Rca496076d2e64e84" /><Relationship Type="http://schemas.openxmlformats.org/officeDocument/2006/relationships/notesMaster" Target="/ppt/notesMasters/notesMaster1.xml" Id="R042a4797d22e4e02" /><Relationship Type="http://schemas.openxmlformats.org/officeDocument/2006/relationships/presProps" Target="/ppt/presProps.xml" Id="R028bddc3d00049ab" /><Relationship Type="http://schemas.openxmlformats.org/officeDocument/2006/relationships/viewProps" Target="/ppt/viewProps.xml" Id="R5d3f93b462204719" /><Relationship Type="http://schemas.openxmlformats.org/officeDocument/2006/relationships/tableStyles" Target="/ppt/tableStyles.xml" Id="Rc3d75d52dce74ef4" /><Relationship Type="http://schemas.openxmlformats.org/officeDocument/2006/relationships/slide" Target="/ppt/slides/slide1.xml" Id="Rd482040e13d143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fa2015e69849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e39476d13d4737" /><Relationship Type="http://schemas.openxmlformats.org/officeDocument/2006/relationships/notesMaster" Target="/ppt/notesMasters/notesMaster1.xml" Id="Ra4f35878d78e42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de conteúdo:</a:t>
            </a:r>
          </a:p>
          <a:p xmlns:a="http://schemas.openxmlformats.org/drawingml/2006/main">
            <a:r>
              <a:t>/home/rafael/Downloads/B2411550048.docx</a:t>
            </a:r>
          </a:p>
          <a:p xmlns:a="http://schemas.openxmlformats.org/drawingml/2006/main">
            <a:r>
              <a:t>/home/rafael/Documentos/TCC-Teste2/Front-end para academia/README.md</a:t>
            </a:r>
          </a:p>
          <a:p xmlns:a="http://schemas.openxmlformats.org/drawingml/2006/main">
            <a:r>
              <a:t>/home/rafael/Documentos/TCC-Teste2/Front-end para academia/docs/roteiro-validacao.md</a:t>
            </a:r>
          </a:p>
          <a:p xmlns:a="http://schemas.openxmlformats.org/drawingml/2006/main">
            <a:r>
              <a:t>/home/rafael/Documentos/TCC-Teste2/Front-end para academia/docs/pix-mercado-pago.md</a:t>
            </a:r>
          </a:p>
          <a:p xmlns:a="http://schemas.openxmlformats.org/drawingml/2006/main">
            <a:r>
              <a:t>O texto concilia a monografia enviada com a versão atual do código e da documentação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1cbffe63642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08e19e0de49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3277836a342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37f7ec0b347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8203b90f142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62789899e4a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3be37e7114dc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b4938514d4d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9ff72a9e14eb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7acb09d5645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50e65e8964a5f" /></Relationships>
</file>

<file path=ppt/slideLayouts/slideLayout1.xml><?xml version="1.0" encoding="utf-8"?>
<p:sldLayout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70614B-D667-4EC6-986A-31158FBD216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29947" y="7070108"/>
            <a:ext cx="27539395" cy="15040222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1259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3F41B00-43EA-41D3-BB52-68CF34F4C3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49911" y="22690338"/>
            <a:ext cx="24299466" cy="1043015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 xmlns:a="http://schemas.openxmlformats.org/drawingml/2006/main">
            <a:r>
              <a:t>Clique para editar o estilo do subtítulo Mestre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1D16F5-731D-41B1-BAC4-19EF1631A3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AB9A6D-C05A-4446-87A7-BAD4D4815B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528D5C-3BE8-4CD9-BB4C-ED3FD7A72C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52DCDA-0AF4-49D0-8A6C-C903570AC2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4C029A-31B4-42CB-9F77-CD392A2462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9CC81B-E1FB-4C2C-B5EB-49B6AD8A8C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6E1F72-E5DE-4081-8CF3-239BEF599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4D1617-C156-4BFE-AD64-07F7CD041E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D1A304-501A-4F63-894F-C673977B0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10578" y="10770172"/>
            <a:ext cx="27944386" cy="17970262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1259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0C6907-0794-48F1-B8C0-A3DA5D665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10578" y="28910440"/>
            <a:ext cx="27944386" cy="945013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D31DA5-4DD7-4CA5-A0A7-7318288363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D64FA2-8FC9-4CFF-835F-0B68F39296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373CF2-94B3-4552-ACC0-FC40BAB411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8B3DA5-2D02-4FC3-BEE0-0BEF835D6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965748-124D-4386-ACDD-FB960AC774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227451" y="11500170"/>
            <a:ext cx="13769697" cy="274104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E7CA6-F63F-4693-8D24-734199B069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02140" y="11500170"/>
            <a:ext cx="13769697" cy="2741040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87C0409-3C99-4F3F-8817-034511CCE5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5C6CD4C-A65A-490A-808E-934CE10D58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853178C-C607-4582-B424-48BEB402BD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96C93E-B547-42B4-B676-71368CA70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300044"/>
            <a:ext cx="27944386" cy="835012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EE7C33-A31B-4224-84EE-9184414A3A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31675" y="10590160"/>
            <a:ext cx="13706415" cy="519007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1AC9E1-523B-4338-8AB5-4CE46B4F42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31675" y="15780233"/>
            <a:ext cx="13706415" cy="232103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CF60E0D-8DF9-4611-85CB-C0E5BAE6FA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402142" y="10590160"/>
            <a:ext cx="13773917" cy="519007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70224F2-F435-4040-96C2-77C72C3521F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402142" y="15780233"/>
            <a:ext cx="13773917" cy="232103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C272A1B-324B-4FE1-9A52-1F0062870D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13E2E29-7C6F-41D6-A8A3-4597849F19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59954BE-539C-4F64-A345-481F4F670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957462-CB2C-4572-B3BB-9BD9CBE08C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65C8336-F20F-40E7-95FB-9C3C0DBC28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B39A514-E226-4238-9077-58481636FE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A3AD0D0-7DCB-498F-9D58-CD493F3D29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49A0BAF-0BFB-4CF1-B7D5-E023A4597C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FB7E053-AD84-4E41-931F-C37819F1E2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D945FA9-25AF-4D3D-825E-0385E732D6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9981A-30F5-4FE0-9F5D-580533CE3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880042"/>
            <a:ext cx="10449614" cy="1008014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338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CE3B25-D5FC-4051-B01D-BB93D73E4C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773917" y="6220102"/>
            <a:ext cx="16402140" cy="3070045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1338"/>
            </a:lvl1pPr>
            <a:lvl2pPr>
              <a:buNone/>
              <a:defRPr sz="9921"/>
            </a:lvl2pPr>
            <a:lvl3pPr>
              <a:buNone/>
              <a:defRPr sz="8504"/>
            </a:lvl3pPr>
            <a:lvl4pPr>
              <a:buNone/>
              <a:defRPr sz="7086"/>
            </a:lvl4pPr>
            <a:lvl5pPr>
              <a:buNone/>
              <a:defRPr sz="7086"/>
            </a:lvl5pPr>
            <a:lvl6pPr>
              <a:buNone/>
              <a:defRPr sz="7086"/>
            </a:lvl6pPr>
            <a:lvl7pPr>
              <a:buNone/>
              <a:defRPr sz="7086"/>
            </a:lvl7pPr>
            <a:lvl8pPr>
              <a:buNone/>
              <a:defRPr sz="7086"/>
            </a:lvl8pPr>
            <a:lvl9pPr>
              <a:buNone/>
              <a:defRPr sz="7086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B43B54D-4584-4AA9-B5D4-A5AAA0D018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31671" y="12960191"/>
            <a:ext cx="10449614" cy="240103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96E30F-D3EB-4156-9306-EDF549CDE6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73FAAFA-A53F-4E5B-95F6-A56069E5B2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152E40E-FB80-4519-A223-30114D7AAF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5B26D4-024A-4255-99BE-5460C9752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31671" y="2880042"/>
            <a:ext cx="10449614" cy="1008014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1338"/>
            </a:lvl1pPr>
          </a:lstStyle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7193C3-6A4E-4AF0-A1D5-40DB3C0637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3773917" y="6220102"/>
            <a:ext cx="16402140" cy="30700453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 xmlns:a="http://schemas.openxmlformats.org/drawingml/2006/main">
            <a:r>
              <a:t>Clique no ícone para adicionar uma imagem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F0B73DB-2647-4386-B25B-49B4C1780F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231671" y="12960191"/>
            <a:ext cx="10449614" cy="240103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 xmlns:a="http://schemas.openxmlformats.org/drawingml/2006/main"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B491860-4A4D-4E7E-B8F3-7B802C19B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F251F46-6EA1-4417-AD47-BC32AA9146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522639-F3C6-4D6A-A280-0F80D687DD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81D38-1EE7-4260-8E5C-69300FEE2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CDDC05-F47E-442E-8859-D4F01BE145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7D4467-F371-4CA8-9E9E-E0232D08F8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212F02-F261-4043-9E99-A8EE176E7A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25BB0B-7AE3-4FB9-BEE0-C1F41AD5D2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0DC8684-DAF3-44CB-ABE8-3AC35E557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85742" y="2300034"/>
            <a:ext cx="6986096" cy="366105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EDD1B9-89E4-4F5A-80C2-F87993B386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27453" y="2300034"/>
            <a:ext cx="20553298" cy="366105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568A8D-A679-4C87-8008-B95804E8AA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B2E002-9C25-46E6-B3FD-0D7725B4A5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7E2686-C053-44A0-83DB-042CB625D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834d3d11e44598" /><Relationship Type="http://schemas.openxmlformats.org/officeDocument/2006/relationships/slideLayout" Target="/ppt/slideLayouts/slideLayout1.xml" Id="Rd8c4038bb4ca4b87" /><Relationship Type="http://schemas.openxmlformats.org/officeDocument/2006/relationships/slideLayout" Target="/ppt/slideLayouts/slideLayout2.xml" Id="Ref787ded1c054413" /><Relationship Type="http://schemas.openxmlformats.org/officeDocument/2006/relationships/slideLayout" Target="/ppt/slideLayouts/slideLayout3.xml" Id="R82b10109c5d445fe" /><Relationship Type="http://schemas.openxmlformats.org/officeDocument/2006/relationships/slideLayout" Target="/ppt/slideLayouts/slideLayout4.xml" Id="Rb643de6bc74d410b" /><Relationship Type="http://schemas.openxmlformats.org/officeDocument/2006/relationships/slideLayout" Target="/ppt/slideLayouts/slideLayout5.xml" Id="R591be43fe3964c62" /><Relationship Type="http://schemas.openxmlformats.org/officeDocument/2006/relationships/slideLayout" Target="/ppt/slideLayouts/slideLayout6.xml" Id="R4899d876beb64bd9" /><Relationship Type="http://schemas.openxmlformats.org/officeDocument/2006/relationships/slideLayout" Target="/ppt/slideLayouts/slideLayout7.xml" Id="Rc403b9d3f48047c8" /><Relationship Type="http://schemas.openxmlformats.org/officeDocument/2006/relationships/slideLayout" Target="/ppt/slideLayouts/slideLayout8.xml" Id="Rf9e929ff18254d44" /><Relationship Type="http://schemas.openxmlformats.org/officeDocument/2006/relationships/slideLayout" Target="/ppt/slideLayouts/slideLayout9.xml" Id="Rb8dd707901154f63" /><Relationship Type="http://schemas.openxmlformats.org/officeDocument/2006/relationships/slideLayout" Target="/ppt/slideLayouts/slideLayout10.xml" Id="R334b497b9c7e443c" /><Relationship Type="http://schemas.openxmlformats.org/officeDocument/2006/relationships/slideLayout" Target="/ppt/slideLayouts/slideLayout11.xml" Id="R8b244517fbd44b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5A3A3CD-7EA8-4278-BF30-D16CA7B3C7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27451" y="2300044"/>
            <a:ext cx="27944386" cy="83501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Clique para editar o título Mestre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239402-ED2E-4419-91B0-81DF34BC07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227451" y="11500170"/>
            <a:ext cx="27944386" cy="27410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estilos de texto Mestre</a:t>
            </a:r>
          </a:p>
          <a:p xmlns:a="http://schemas.openxmlformats.org/drawingml/2006/main">
            <a:pPr lvl="1">
              <a:buNone/>
            </a:pPr>
            <a:r>
              <a:t>Segundo nível</a:t>
            </a:r>
          </a:p>
          <a:p xmlns:a="http://schemas.openxmlformats.org/drawingml/2006/main">
            <a:pPr lvl="2">
              <a:buNone/>
            </a:pPr>
            <a:r>
              <a:t>Terceiro nível</a:t>
            </a:r>
          </a:p>
          <a:p xmlns:a="http://schemas.openxmlformats.org/drawingml/2006/main">
            <a:pPr lvl="3">
              <a:buNone/>
            </a:pPr>
            <a:r>
              <a:t>Quarto nível</a:t>
            </a:r>
          </a:p>
          <a:p xmlns:a="http://schemas.openxmlformats.org/drawingml/2006/main">
            <a:pPr lvl="4">
              <a:buNone/>
            </a:pPr>
            <a:r>
              <a:t>Quinto nível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6CDA45-0CBF-44A8-9971-02EE806E9B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227451" y="40040601"/>
            <a:ext cx="728984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B692022-67B8-4243-B832-4E1CA2399455}" type="datetimeFigureOut">
              <a:t>18/09/2026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D8818A-D390-4E6A-98C0-1EFAA52E055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732264" y="40040601"/>
            <a:ext cx="1093476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82812B-7FBB-4276-A248-98BAF8743D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2881997" y="40040601"/>
            <a:ext cx="7289840" cy="2300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C2F87FD-1EBD-487C-8D49-3577B274FAFE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4038bb4ca4b87"/>
    <p:sldLayoutId xmlns:r="http://schemas.openxmlformats.org/officeDocument/2006/relationships" id="2147483650" r:id="Ref787ded1c054413"/>
    <p:sldLayoutId xmlns:r="http://schemas.openxmlformats.org/officeDocument/2006/relationships" id="2147483651" r:id="R82b10109c5d445fe"/>
    <p:sldLayoutId xmlns:r="http://schemas.openxmlformats.org/officeDocument/2006/relationships" id="2147483652" r:id="Rb643de6bc74d410b"/>
    <p:sldLayoutId xmlns:r="http://schemas.openxmlformats.org/officeDocument/2006/relationships" id="2147483653" r:id="R591be43fe3964c62"/>
    <p:sldLayoutId xmlns:r="http://schemas.openxmlformats.org/officeDocument/2006/relationships" id="2147483654" r:id="R4899d876beb64bd9"/>
    <p:sldLayoutId xmlns:r="http://schemas.openxmlformats.org/officeDocument/2006/relationships" id="2147483655" r:id="Rc403b9d3f48047c8"/>
    <p:sldLayoutId xmlns:r="http://schemas.openxmlformats.org/officeDocument/2006/relationships" id="2147483656" r:id="Rf9e929ff18254d44"/>
    <p:sldLayoutId xmlns:r="http://schemas.openxmlformats.org/officeDocument/2006/relationships" id="2147483657" r:id="Rb8dd707901154f63"/>
    <p:sldLayoutId xmlns:r="http://schemas.openxmlformats.org/officeDocument/2006/relationships" id="2147483658" r:id="R334b497b9c7e443c"/>
    <p:sldLayoutId xmlns:r="http://schemas.openxmlformats.org/officeDocument/2006/relationships" id="2147483659" r:id="R8b244517fbd44b4a"/>
  </p:sldLayoutIdLst>
  <p:txStyles>
    <p:titleStyle>
      <a:lvl1pPr xmlns:a="http://schemas.openxmlformats.org/drawingml/2006/main" algn="l" defTabSz="3239902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809976" indent="-809976" algn="l" defTabSz="3239902">
        <a:lnSpc>
          <a:spcPct val="90000"/>
        </a:lnSpc>
        <a:spcBef>
          <a:spcPts val="3543"/>
        </a:spcBef>
        <a:buFont typeface="Arial"/>
        <a:buChar char="•"/>
        <a:defRPr sz="992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429927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850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049878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7086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669829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7289780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909731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529682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2149633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3769584" indent="-809976" algn="l" defTabSz="3239902">
        <a:lnSpc>
          <a:spcPct val="90000"/>
        </a:lnSpc>
        <a:spcBef>
          <a:spcPts val="1772"/>
        </a:spcBef>
        <a:buFont typeface="Arial"/>
        <a:buChar char="•"/>
        <a:defRPr sz="637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619951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239902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4859853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479804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099755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719706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339657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959608" algn="l" defTabSz="3239902">
        <a:buNone/>
        <a:defRPr sz="637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affefcc2b4471" /><Relationship Type="http://schemas.openxmlformats.org/officeDocument/2006/relationships/image" Target="/ppt/media/image.png" Id="R05cc9fa0745a44f2" /><Relationship Type="http://schemas.openxmlformats.org/officeDocument/2006/relationships/image" Target="/ppt/media/image.jpeg" Id="R7a4a251d975d4a54" /><Relationship Type="http://schemas.openxmlformats.org/officeDocument/2006/relationships/image" Target="/ppt/media/image2.png" Id="R8fc713e8506c492a" /><Relationship Type="http://schemas.openxmlformats.org/officeDocument/2006/relationships/image" Target="/ppt/media/image3.png" Id="Rfb27a50b356a4edf" /><Relationship Type="http://schemas.openxmlformats.org/officeDocument/2006/relationships/notesSlide" Target="/ppt/notesSlides/notesSlide1.xml" Id="R6f4766405dfb4c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AB8CB61-02A0-4035-B25F-4773CA2F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8496300"/>
            <a:ext cx="3524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00"/>
          </a:solidFill>
          <a:ln xmlns:a="http://schemas.openxmlformats.org/drawingml/2006/main" w="0">
            <a:noFill/>
          </a:ln>
        </p:spPr>
      </p:sp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CA0498DB-9E8D-46D1-8C1C-57D2A6CAB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667000" y="8763000"/>
            <a:ext cx="27051000" cy="1666875"/>
          </a:xfrm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Aluno: Rafael Bavaresco Messias Moura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8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202124"/>
                </a:solidFill>
                <a:latin typeface="Arial"/>
                <a:ea typeface="Arial"/>
                <a:cs typeface="Arial"/>
              </a:rPr>
              <a:t>Orientador: Prof. Esp. Célio Desiró</a:t>
            </a:r>
          </a:p>
        </p:txBody>
      </p:sp>
      <p:sp>
        <p:nvSpPr>
          <p:cNvPr id="8" name="Título 1">
            <a:extLst xmlns:a="http://schemas.openxmlformats.org/drawingml/2006/main">
              <a:ext uri="{FF2B5EF4-FFF2-40B4-BE49-F238E27FC236}">
                <a16:creationId xmlns:a16="http://schemas.microsoft.com/office/drawing/2014/main" id="{ACED6C1E-98E0-42EA-9621-B3481476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572750"/>
            <a:ext cx="2762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38100" tIns="19050" rIns="38100" bIns="19050" anchor="ctr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00000"/>
              </a:lnSpc>
              <a:buClr>
                <a:schemeClr val="accent1"/>
              </a:buClr>
              <a:buSzPct val="80000"/>
              <a:buNone/>
              <a:defRPr sz="21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F6368"/>
                </a:solidFill>
                <a:latin typeface="Arial"/>
                <a:ea typeface="Arial"/>
                <a:cs typeface="Arial"/>
              </a:rPr>
              <a:t>Curso de Análise e Desenvolvimento de Sistemas, IMESA/FEMA, Assis/SP</a:t>
            </a:r>
            <a:endParaRPr sz="2800">
              <a:latin typeface="Arial"/>
              <a:ea typeface="Arial"/>
              <a:cs typeface="Arial"/>
            </a:endParaRPr>
          </a:p>
        </p:txBody>
      </p:sp>
      <p:sp>
        <p:nvSpPr>
          <p:cNvPr id="10" name="Título 1">
            <a:extLst xmlns:a="http://schemas.openxmlformats.org/drawingml/2006/main">
              <a:ext uri="{FF2B5EF4-FFF2-40B4-BE49-F238E27FC236}">
                <a16:creationId xmlns:a16="http://schemas.microsoft.com/office/drawing/2014/main" id="{33EB498C-C51F-47B6-8716-04F82B46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954000"/>
            <a:ext cx="14392275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INTRODUÇÃO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3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202124"/>
                </a:solidFill>
                <a:latin typeface="Arial"/>
                <a:ea typeface="Arial"/>
                <a:cs typeface="Arial"/>
              </a:rPr>
              <a:t>Pequenas academias ainda podem manter cadastros, frequência, treinos e controles financeiros distribuídos entre papéis, planilhas e aplicativos de mensagens. Essa fragmentação dificulta o histórico das operações e aumenta o retrabalho (LAUDON; LAUDON, 2016).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3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202124"/>
                </a:solidFill>
                <a:latin typeface="Arial"/>
                <a:ea typeface="Arial"/>
                <a:cs typeface="Arial"/>
              </a:rPr>
              <a:t>O FitPro foi desenvolvido no contexto do Studio Bio Fitness para centralizar essas rotinas em uma aplicação web com áreas próprias para proprietário, administração, professor e aluno. O tratamento de dados pessoais também exige controles compatíveis com a LGPD (BRASIL, 2018).</a:t>
            </a:r>
          </a:p>
        </p:txBody>
      </p:sp>
      <p:sp>
        <p:nvSpPr>
          <p:cNvPr id="9" name="CaixaDeTexto 8">
            <a:extLst xmlns:a="http://schemas.openxmlformats.org/drawingml/2006/main">
              <a:ext uri="{FF2B5EF4-FFF2-40B4-BE49-F238E27FC236}">
                <a16:creationId xmlns:a16="http://schemas.microsoft.com/office/drawing/2014/main" id="{966A0141-99EC-4F2F-83BE-7CC19192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37052250"/>
            <a:ext cx="14020800" cy="10535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REFERÊNCIAS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BECK, K. et al. Manifesto for Agile Software Development. 2001.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BRASIL. Lei nº 13.709, de 14 de agosto de 2018. Lei Geral de Proteção de Dados Pessoais.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LAUDON, K. C.; LAUDON, J. P. Sistemas de informação gerenciais. 11. ed. 2016.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SUPABASE. Row Level Security. 2026.</a:t>
            </a:r>
          </a:p>
        </p:txBody>
      </p:sp>
      <p:sp>
        <p:nvSpPr>
          <p:cNvPr id="18" name="Título 1">
            <a:extLst xmlns:a="http://schemas.openxmlformats.org/drawingml/2006/main">
              <a:ext uri="{FF2B5EF4-FFF2-40B4-BE49-F238E27FC236}">
                <a16:creationId xmlns:a16="http://schemas.microsoft.com/office/drawing/2014/main" id="{CFD256F6-7159-4362-960E-F32E99D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0"/>
            <a:ext cx="1439227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METODOLOGIA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Pesquisa aplicada, exploratória e qualitativa. As necessidades foram levantadas por observação da rotina, conversas com pessoas envolvidas e revisão sucessiva das telas e fluxos.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O desenvolvimento seguiu ciclos incrementais de entendimento, implementação e validação funcional, em alinhamento com princípios ágeis (BECK et al., 2001).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A versão atual utiliza React 19 e TypeScript no front-end, Supabase Auth e Data API, PostgreSQL, Edge Functions, políticas RLS e Zustand para estado da aplicação. Os resultados são específicos ao contexto estudado e não representam inferência estatística sobre o setor.</a:t>
            </a:r>
          </a:p>
        </p:txBody>
      </p:sp>
      <p:sp>
        <p:nvSpPr>
          <p:cNvPr id="20" name="Título 1">
            <a:extLst xmlns:a="http://schemas.openxmlformats.org/drawingml/2006/main">
              <a:ext uri="{FF2B5EF4-FFF2-40B4-BE49-F238E27FC236}">
                <a16:creationId xmlns:a16="http://schemas.microsoft.com/office/drawing/2014/main" id="{35834311-3DFF-4D7B-A104-AD8C31AE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0"/>
            <a:ext cx="14392275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OBJETIVOS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6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Desenvolver e avaliar uma aplicação web para apoiar a gestão do Studio Bio Fitness.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6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Centralizar cadastros, turmas, treinos, frequência, mensalidades e indicadores gerenciais.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6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Oferecer fluxos específicos e protegidos para os quatro perfis de acesso.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600"/>
              </a:spcAft>
              <a:buNone/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Identificar limites técnicos e medidas necessárias para evolução segura do sistema.</a:t>
            </a:r>
          </a:p>
        </p:txBody>
      </p:sp>
      <p:sp>
        <p:nvSpPr>
          <p:cNvPr id="21" name="Título 1">
            <a:extLst xmlns:a="http://schemas.openxmlformats.org/drawingml/2006/main">
              <a:ext uri="{FF2B5EF4-FFF2-40B4-BE49-F238E27FC236}">
                <a16:creationId xmlns:a16="http://schemas.microsoft.com/office/drawing/2014/main" id="{263E1B0A-C761-4066-B9CA-D7A68FF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2954000"/>
            <a:ext cx="14020800" cy="1076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RESULTADOS E DISCUSSÃO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8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O FitPro reúne gestão de academias, administradores, alunos, professores, planos, turmas, frequência, finanças, treinos e evolução de peso em uma única aplicação.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8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Políticas RLS restringem os dados por academia e perfil. Operações sensíveis utilizam Edge Functions, e alterações administrativas são registradas em auditoria (SUPABASE, 2026).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8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Um ensaio com duas academias fictícias bloqueou a leitura cruzada de registros e impediu a alteração de um plano pertencente a outra unidade.</a:t>
            </a:r>
          </a:p>
          <a:p xmlns:a="http://schemas.openxmlformats.org/drawingml/2006/main">
            <a:pPr marL="279400" indent="-139700" algn="l">
              <a:lnSpc>
                <a:spcPct val="105000"/>
              </a:lnSpc>
              <a:spcAft>
                <a:spcPts val="8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A integração Pix opcional por academia processou pagamentos reais controlados, confirmou cobranças no servidor e registrou o histórico. A conciliação, estornos e disputas ainda exigem monitoramento operacional.</a:t>
            </a:r>
          </a:p>
        </p:txBody>
      </p:sp>
      <p:sp>
        <p:nvSpPr>
          <p:cNvPr id="2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732ADD-F0F3-46B0-B1BF-F7B862D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31051500"/>
            <a:ext cx="140208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76200" tIns="57150" rIns="76200" bIns="57150" anchor="t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CONSIDERAÇÕES FINAIS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O projeto demonstrou a viabilidade de centralizar processos relevantes do Studio Bio Fitness em uma aplicação web integrada. A evolução do código acrescentou isolamento entre academias, operações administrativas no servidor, auditoria, criação de treinos, persistência de frequência e pagamentos Pix opcionais.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1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2124"/>
                </a:solidFill>
                <a:latin typeface="Arial"/>
                <a:ea typeface="Arial"/>
                <a:cs typeface="Arial"/>
              </a:rPr>
              <a:t>Antes de uso comercial amplo, o sistema ainda requer testes contínuos das políticas de acesso, acompanhamento de falhas financeiras, tratamento de incidentes e validação operacional com diferentes academias. O FitPro constitui uma base funcional para essa evolução.</a:t>
            </a:r>
          </a:p>
        </p:txBody>
      </p:sp>
      <p:pic>
        <p:nvPicPr>
          <p:cNvPr id="39" name="Imagem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c9fa0745a44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42118" y="2027552"/>
            <a:ext cx="7994539" cy="2370145"/>
          </a:xfrm>
          <a:prstGeom xmlns:a="http://schemas.openxmlformats.org/drawingml/2006/main" prst="rect">
            <a:avLst/>
          </a:prstGeom>
        </p:spPr>
      </p:pic>
      <p:pic>
        <p:nvPicPr>
          <p:cNvPr id="40" name="Imagem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a251d975d4a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562638"/>
            <a:ext cx="5629365" cy="5403739"/>
          </a:xfrm>
          <a:prstGeom xmlns:a="http://schemas.openxmlformats.org/drawingml/2006/main" prst="rect">
            <a:avLst/>
          </a:prstGeom>
        </p:spPr>
      </p:pic>
      <p:sp>
        <p:nvSpPr>
          <p:cNvPr id="5" name="Título 1">
            <a:extLst xmlns:a="http://schemas.openxmlformats.org/drawingml/2006/main">
              <a:ext uri="{FF2B5EF4-FFF2-40B4-BE49-F238E27FC236}">
                <a16:creationId xmlns:a16="http://schemas.microsoft.com/office/drawing/2014/main" id="{4BA30053-6AC7-0FF1-9055-45CA97AD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334125"/>
            <a:ext cx="28384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38100" tIns="0" rIns="38100" bIns="0" anchor="ctr">
            <a:normAutofit fontScale="100000"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005A93"/>
                </a:solidFill>
                <a:latin typeface="Arial Black"/>
                <a:ea typeface="Arial Black"/>
                <a:cs typeface="Arial Black"/>
              </a:defRPr>
            </a:pPr>
            <a:r>
              <a:rPr sz="4800" b="1">
                <a:solidFill>
                  <a:srgbClr val="005A93"/>
                </a:solidFill>
                <a:latin typeface="Arial Black"/>
                <a:ea typeface="Arial Black"/>
                <a:cs typeface="Arial Black"/>
              </a:rPr>
              <a:t>FITPRO: SISTEMA WEB PARA GESTÃO DE PEQUENAS ACADEMIAS</a:t>
            </a:r>
          </a:p>
        </p:txBody>
      </p:sp>
      <p:sp>
        <p:nvSpPr>
          <p:cNvPr id="7" name="Título 1">
            <a:extLst xmlns:a="http://schemas.openxmlformats.org/drawingml/2006/main">
              <a:ext uri="{FF2B5EF4-FFF2-40B4-BE49-F238E27FC236}">
                <a16:creationId xmlns:a16="http://schemas.microsoft.com/office/drawing/2014/main" id="{6B833CED-652C-4453-82C9-C3521E7C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95375"/>
            <a:ext cx="143827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horz" wrap="square" lIns="38100" tIns="38100" rIns="38100" bIns="38100" anchor="ctr">
            <a:noAutofit/>
          </a:bodyPr>
          <a:lstStyle xmlns:a="http://schemas.openxmlformats.org/drawingml/2006/main">
            <a:lvl1pPr algn="ctr" defTabSz="2700040">
              <a:lnSpc>
                <a:spcPct val="90000"/>
              </a:lnSpc>
              <a:spcBef>
                <a:spcPct val="0"/>
              </a:spcBef>
              <a:buNone/>
              <a:defRPr sz="17717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40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APRESENTAÇÃO DE TRABALHOS DE CONCLUSÃO DE CURSO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000000"/>
                </a:solidFill>
                <a:latin typeface="Arial Black"/>
                <a:ea typeface="Arial Black"/>
                <a:cs typeface="Arial Black"/>
              </a:defRPr>
            </a:pPr>
            <a:r>
              <a:rPr sz="4050" b="1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2026</a:t>
            </a:r>
            <a:endParaRPr sz="5000" b="1">
              <a:latin typeface="Arial Black"/>
              <a:ea typeface="Arial Black"/>
              <a:cs typeface="Arial Black"/>
            </a:endParaRP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713e8506c492a"/>
          <a:stretch xmlns:a="http://schemas.openxmlformats.org/drawingml/2006/main"/>
        </p:blipFill>
        <p:spPr>
          <a:xfrm xmlns:a="http://schemas.openxmlformats.org/drawingml/2006/main">
            <a:off x="1862138" y="32242125"/>
            <a:ext cx="12954000" cy="8096250"/>
          </a:xfrm>
          <a:prstGeom xmlns:a="http://schemas.openxmlformats.org/drawingml/2006/main" prst="roundRect">
            <a:avLst>
              <a:gd name="adj" fmla="val 1412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7a50b356a4edf"/>
          <a:stretch xmlns:a="http://schemas.openxmlformats.org/drawingml/2006/main"/>
        </p:blipFill>
        <p:spPr>
          <a:xfrm xmlns:a="http://schemas.openxmlformats.org/drawingml/2006/main">
            <a:off x="16716375" y="23781113"/>
            <a:ext cx="14020800" cy="6158775"/>
          </a:xfrm>
          <a:prstGeom xmlns:a="http://schemas.openxmlformats.org/drawingml/2006/main" prst="roundRect">
            <a:avLst>
              <a:gd name="adj" fmla="val 1846"/>
            </a:avLst>
          </a:prstGeom>
        </p:spPr>
      </p:pic>
      <p:sp>
        <p:nvSpPr>
          <p:cNvPr id="27" name="caption-Figura 1. Perfis de ">
            <a:extLst xmlns:a="http://schemas.openxmlformats.org/drawingml/2006/main">
              <a:ext uri="{FF2B5EF4-FFF2-40B4-BE49-F238E27FC236}">
                <a16:creationId xmlns:a16="http://schemas.microsoft.com/office/drawing/2014/main" id="{3CF9D171-6FF6-4C08-A7B6-A87FDD9A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0"/>
            <a:ext cx="14392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i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i="1">
                <a:solidFill>
                  <a:srgbClr val="5F6368"/>
                </a:solidFill>
                <a:latin typeface="Arial"/>
                <a:ea typeface="Arial"/>
                <a:cs typeface="Arial"/>
              </a:rPr>
              <a:t>Figura 1. Perfis de acesso do FitPro. Fonte: elaborado pelo autor (2026).</a:t>
            </a:r>
          </a:p>
        </p:txBody>
      </p:sp>
      <p:sp>
        <p:nvSpPr>
          <p:cNvPr id="28" name="caption-Figura 2. Painel do ">
            <a:extLst xmlns:a="http://schemas.openxmlformats.org/drawingml/2006/main">
              <a:ext uri="{FF2B5EF4-FFF2-40B4-BE49-F238E27FC236}">
                <a16:creationId xmlns:a16="http://schemas.microsoft.com/office/drawing/2014/main" id="{241F4938-CF65-4A39-82EA-2BF98CA4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300037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i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i="1">
                <a:solidFill>
                  <a:srgbClr val="5F6368"/>
                </a:solidFill>
                <a:latin typeface="Arial"/>
                <a:ea typeface="Arial"/>
                <a:cs typeface="Arial"/>
              </a:rPr>
              <a:t>Figura 2. Painel do aluno e acompanhamento do treino. Fonte: elaborado pelo autor (2026).</a:t>
            </a:r>
          </a:p>
        </p:txBody>
      </p:sp>
    </p:spTree>
    <p:extLst>
      <p:ext uri="{BB962C8B-B14F-4D97-AF65-F5344CB8AC3E}">
        <p14:creationId xmlns:p14="http://schemas.microsoft.com/office/powerpoint/2010/main" val="3513390223"/>
      </p:ext>
    </p:extLst>
  </p:cSld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2026-09-29T16:24:45.8600000Z</dcterms:created>
  <dcterms:modified xsi:type="dcterms:W3CDTF">2026-09-29T16:24:45.8600000Z</dcterms:modified>
</coreProperties>
</file>